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heat engine was in serious industrial use for about a century before anyone had a theory of what it was doing. Before Carnot and Clausius, the engine was a useful mystery — you could build one, and if you were careful and lucky, it worked. After the theory, refrigeration, systematic engine design, and whole industries nobody had been able to imagine became routine. The theory did not invent the engine; it made the engine legible, and then it made everything downstream of the engine possible.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My claim is that we are today in an exactly analogous situation with intelligence. Intelligence engines exist and work — biological brains, deep networks, the machinery of modern AI. But a principled physical theory of what they are, what they cost, and what any given substrate can efficiently do, does not. We are the mechanics before the physicists. Synthetics is my attempt at that theory.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foundational pre-preprints already lay the static mathematics. The Cost of Complexity derives, from three sparse assumptions, the thermodynamic price of any embodied representation — and identifies a sharp critical ceiling where the partition function becomes the Riemann zeta function. Equilibrium from the Inside Out gives an exact algebraic closure theorem — a criterion for when a subsystem admits a compact local effective description — proven for a genuinely non-commuting case. Both are currently static. The residency extends them into dynamics, connects them formally, and applies them to neuromorphic computing.</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unifying move. Biological cortex, open quantum systems, and neuromorphic hardware look nothing like each other as physical objects, but they are all dynamical systems, and dynamical systems theory lets us write them all down as the same linear evolution over a lifted observable space — one operator algebra for all three. That shared representation is the glue. And the moment you insist these dynamics be physically embodied, two constraints fall out whether you want them to or not — a thermodynamic cost, and an algebraic closure criterion. Design principles for efficient intelligence are just what those constraints look like when you take them seriously. That is the shape of Synthetics.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Alongside the mathematics, public writing is treated as part of the work rather than a separate communications activity. The argument is simple: a synthesis which cannot be stated across the fields it unifies has not unified them. Explicability is a research deliverable, not a chore. Little Learning Machine and the FQxI essay are where that work is already happening — second place out of several hundred entrants for an essay on whether life comes from outer Hilbert space.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word on who's doing this. I'm a theoretical physicist — PhD King's, postdoc at Tulane — sitting at the intersection of the three fields Synthetics wants to unify: quantum theory, thermodynamics, and machine intelligence. Twenty-five-plus papers in quantum control, open systems, reservoir computing, superoscillations, Koopman methods. The website holds the full catalogue — the pre-preprints at slash physics, the essays on Substack, and the broader writing at slash writing. Thank you.</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A0E1A"/>
        </a:solidFill>
        <a:effectLst/>
      </p:bgPr>
    </p:bg>
    <p:spTree>
      <p:nvGrpSpPr>
        <p:cNvPr id="1" name=""/>
        <p:cNvGrpSpPr/>
        <p:nvPr/>
      </p:nvGrpSpPr>
      <p:grpSpPr/>
      <p:sp>
        <p:nvSpPr>
          <p:cNvPr id="2" name="TextBox 1"/>
          <p:cNvSpPr txBox="1"/>
          <p:nvPr/>
        </p:nvSpPr>
        <p:spPr>
          <a:xfrm>
            <a:off x="8382000" y="279400"/>
            <a:ext cx="3048000" cy="203200"/>
          </a:xfrm>
          <a:prstGeom prst="rect">
            <a:avLst/>
          </a:prstGeom>
          <a:noFill/>
        </p:spPr>
        <p:txBody>
          <a:bodyPr wrap="square" lIns="0" rIns="0" tIns="0" bIns="0" anchor="t">
            <a:spAutoFit/>
          </a:bodyPr>
          <a:lstStyle/>
          <a:p>
            <a:pPr algn="r"/>
            <a:r>
              <a:rPr sz="1600" b="0" i="0" spc="120">
                <a:solidFill>
                  <a:srgbClr val="6B7280"/>
                </a:solidFill>
                <a:latin typeface="JetBrains Mono"/>
              </a:rPr>
              <a:t>C. 1712 — 1824</a:t>
            </a:r>
          </a:p>
        </p:txBody>
      </p:sp>
      <p:sp>
        <p:nvSpPr>
          <p:cNvPr id="3" name="TextBox 2"/>
          <p:cNvSpPr txBox="1"/>
          <p:nvPr/>
        </p:nvSpPr>
        <p:spPr>
          <a:xfrm>
            <a:off x="8382000" y="495300"/>
            <a:ext cx="3048000" cy="203200"/>
          </a:xfrm>
          <a:prstGeom prst="rect">
            <a:avLst/>
          </a:prstGeom>
          <a:noFill/>
        </p:spPr>
        <p:txBody>
          <a:bodyPr wrap="square" lIns="0" rIns="0" tIns="0" bIns="0" anchor="t">
            <a:spAutoFit/>
          </a:bodyPr>
          <a:lstStyle/>
          <a:p>
            <a:pPr algn="r"/>
            <a:r>
              <a:rPr sz="1600" b="1" i="0" spc="180">
                <a:solidFill>
                  <a:srgbClr val="C9A96E"/>
                </a:solidFill>
                <a:latin typeface="JetBrains Mono"/>
              </a:rPr>
              <a:t>ENGINE BEFORE THEORY</a:t>
            </a:r>
          </a:p>
        </p:txBody>
      </p:sp>
      <p:sp>
        <p:nvSpPr>
          <p:cNvPr id="4" name="Rectangle 3"/>
          <p:cNvSpPr/>
          <p:nvPr/>
        </p:nvSpPr>
        <p:spPr>
          <a:xfrm>
            <a:off x="1016000" y="1803400"/>
            <a:ext cx="304800" cy="6350"/>
          </a:xfrm>
          <a:prstGeom prst="rect">
            <a:avLst/>
          </a:prstGeom>
          <a:solidFill>
            <a:srgbClr val="C9A9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409700" y="1714500"/>
            <a:ext cx="7620000" cy="228600"/>
          </a:xfrm>
          <a:prstGeom prst="rect">
            <a:avLst/>
          </a:prstGeom>
          <a:noFill/>
        </p:spPr>
        <p:txBody>
          <a:bodyPr wrap="square" lIns="0" rIns="0" tIns="0" bIns="0" anchor="t">
            <a:spAutoFit/>
          </a:bodyPr>
          <a:lstStyle/>
          <a:p>
            <a:pPr algn="l"/>
            <a:r>
              <a:rPr sz="1800" b="1" i="0" spc="200">
                <a:solidFill>
                  <a:srgbClr val="C9A96E"/>
                </a:solidFill>
                <a:latin typeface="Inter"/>
              </a:rPr>
              <a:t>SYNTHETICS — RESIDENCY PITCH</a:t>
            </a:r>
          </a:p>
        </p:txBody>
      </p:sp>
      <p:sp>
        <p:nvSpPr>
          <p:cNvPr id="6" name="TextBox 5"/>
          <p:cNvSpPr txBox="1"/>
          <p:nvPr/>
        </p:nvSpPr>
        <p:spPr>
          <a:xfrm>
            <a:off x="1016000" y="2032000"/>
            <a:ext cx="10160000" cy="2286000"/>
          </a:xfrm>
          <a:prstGeom prst="rect">
            <a:avLst/>
          </a:prstGeom>
          <a:noFill/>
        </p:spPr>
        <p:txBody>
          <a:bodyPr wrap="square" lIns="0" rIns="0" tIns="0" bIns="0" anchor="t">
            <a:spAutoFit/>
          </a:bodyPr>
          <a:lstStyle/>
          <a:p>
            <a:pPr algn="l"/>
            <a:r>
              <a:rPr sz="9000" b="1" i="0">
                <a:solidFill>
                  <a:srgbClr val="E8E6E3"/>
                </a:solidFill>
                <a:latin typeface="Outfit"/>
              </a:rPr>
              <a:t>The engine ran
</a:t>
            </a:r>
            <a:r>
              <a:rPr sz="9000" b="1" i="0">
                <a:solidFill>
                  <a:srgbClr val="E8E6E3"/>
                </a:solidFill>
                <a:latin typeface="Outfit"/>
              </a:rPr>
              <a:t>for a </a:t>
            </a:r>
            <a:r>
              <a:rPr sz="9000" b="1" i="0">
                <a:solidFill>
                  <a:srgbClr val="C9A96E"/>
                </a:solidFill>
                <a:latin typeface="Outfit"/>
              </a:rPr>
              <a:t>century</a:t>
            </a:r>
          </a:p>
          <a:p>
            <a:pPr algn="l"/>
            <a:r>
              <a:rPr sz="9000" b="1" i="0">
                <a:solidFill>
                  <a:srgbClr val="E8E6E3"/>
                </a:solidFill>
                <a:latin typeface="Outfit"/>
              </a:rPr>
              <a:t>before the theory.</a:t>
            </a:r>
          </a:p>
        </p:txBody>
      </p:sp>
      <p:sp>
        <p:nvSpPr>
          <p:cNvPr id="7" name="TextBox 6"/>
          <p:cNvSpPr txBox="1"/>
          <p:nvPr/>
        </p:nvSpPr>
        <p:spPr>
          <a:xfrm>
            <a:off x="1016000" y="4762500"/>
            <a:ext cx="4826000" cy="889000"/>
          </a:xfrm>
          <a:prstGeom prst="rect">
            <a:avLst/>
          </a:prstGeom>
          <a:noFill/>
        </p:spPr>
        <p:txBody>
          <a:bodyPr wrap="square" lIns="0" rIns="0" tIns="0" bIns="0" anchor="t">
            <a:spAutoFit/>
          </a:bodyPr>
          <a:lstStyle/>
          <a:p>
            <a:pPr algn="l"/>
            <a:r>
              <a:rPr sz="14000" b="1" i="0">
                <a:solidFill>
                  <a:srgbClr val="C9A96E"/>
                </a:solidFill>
                <a:latin typeface="Outfit"/>
              </a:rPr>
              <a:t>~112</a:t>
            </a:r>
          </a:p>
        </p:txBody>
      </p:sp>
      <p:sp>
        <p:nvSpPr>
          <p:cNvPr id="8" name="TextBox 7"/>
          <p:cNvSpPr txBox="1"/>
          <p:nvPr/>
        </p:nvSpPr>
        <p:spPr>
          <a:xfrm>
            <a:off x="1016000" y="5715000"/>
            <a:ext cx="4826000" cy="508000"/>
          </a:xfrm>
          <a:prstGeom prst="rect">
            <a:avLst/>
          </a:prstGeom>
          <a:noFill/>
        </p:spPr>
        <p:txBody>
          <a:bodyPr wrap="square" lIns="0" rIns="0" tIns="0" bIns="0" anchor="t">
            <a:spAutoFit/>
          </a:bodyPr>
          <a:lstStyle/>
          <a:p>
            <a:pPr algn="l"/>
            <a:r>
              <a:rPr sz="1800" b="0" i="0">
                <a:solidFill>
                  <a:srgbClr val="9CA3AF"/>
                </a:solidFill>
                <a:latin typeface="Inter"/>
              </a:rPr>
              <a:t>years between Newcomen's atmospheric engine and Carnot's Réflexions.</a:t>
            </a:r>
          </a:p>
        </p:txBody>
      </p:sp>
      <p:sp>
        <p:nvSpPr>
          <p:cNvPr id="9" name="TextBox 8"/>
          <p:cNvSpPr txBox="1"/>
          <p:nvPr/>
        </p:nvSpPr>
        <p:spPr>
          <a:xfrm>
            <a:off x="6223000" y="4826000"/>
            <a:ext cx="5080000" cy="825500"/>
          </a:xfrm>
          <a:prstGeom prst="rect">
            <a:avLst/>
          </a:prstGeom>
          <a:noFill/>
        </p:spPr>
        <p:txBody>
          <a:bodyPr wrap="square" lIns="0" rIns="0" tIns="0" bIns="0" anchor="t">
            <a:spAutoFit/>
          </a:bodyPr>
          <a:lstStyle/>
          <a:p>
            <a:pPr algn="l"/>
            <a:r>
              <a:rPr sz="4000" b="1" i="0">
                <a:solidFill>
                  <a:srgbClr val="E8E6E3"/>
                </a:solidFill>
                <a:latin typeface="Outfit"/>
              </a:rPr>
              <a:t>useful mystery
</a:t>
            </a:r>
            <a:r>
              <a:rPr sz="4000" b="1" i="0">
                <a:solidFill>
                  <a:srgbClr val="E8E6E3"/>
                </a:solidFill>
                <a:latin typeface="Outfit"/>
              </a:rPr>
              <a:t>→ routine industry</a:t>
            </a:r>
          </a:p>
        </p:txBody>
      </p:sp>
      <p:sp>
        <p:nvSpPr>
          <p:cNvPr id="10" name="TextBox 9"/>
          <p:cNvSpPr txBox="1"/>
          <p:nvPr/>
        </p:nvSpPr>
        <p:spPr>
          <a:xfrm>
            <a:off x="6223000" y="5842000"/>
            <a:ext cx="5080000" cy="381000"/>
          </a:xfrm>
          <a:prstGeom prst="rect">
            <a:avLst/>
          </a:prstGeom>
          <a:noFill/>
        </p:spPr>
        <p:txBody>
          <a:bodyPr wrap="square" lIns="0" rIns="0" tIns="0" bIns="0" anchor="t">
            <a:spAutoFit/>
          </a:bodyPr>
          <a:lstStyle/>
          <a:p>
            <a:pPr algn="l"/>
            <a:r>
              <a:rPr sz="1800" b="0" i="0">
                <a:solidFill>
                  <a:srgbClr val="9CA3AF"/>
                </a:solidFill>
                <a:latin typeface="Inter"/>
              </a:rPr>
              <a:t>Refrigeration, systematic engine design, entire industries nobody had been able to imagine.</a:t>
            </a:r>
          </a:p>
        </p:txBody>
      </p:sp>
      <p:sp>
        <p:nvSpPr>
          <p:cNvPr id="11" name="TextBox 10"/>
          <p:cNvSpPr txBox="1"/>
          <p:nvPr/>
        </p:nvSpPr>
        <p:spPr>
          <a:xfrm>
            <a:off x="762000" y="6438900"/>
            <a:ext cx="7620000" cy="228600"/>
          </a:xfrm>
          <a:prstGeom prst="rect">
            <a:avLst/>
          </a:prstGeom>
          <a:noFill/>
        </p:spPr>
        <p:txBody>
          <a:bodyPr wrap="square" lIns="0" rIns="0" tIns="0" bIns="0" anchor="t">
            <a:spAutoFit/>
          </a:bodyPr>
          <a:lstStyle/>
          <a:p>
            <a:pPr algn="l"/>
            <a:r>
              <a:rPr sz="2000" b="1" i="0">
                <a:solidFill>
                  <a:srgbClr val="6B7280"/>
                </a:solidFill>
                <a:latin typeface="Outfit"/>
              </a:rPr>
              <a:t>Synthetics</a:t>
            </a:r>
            <a:r>
              <a:rPr sz="2000" b="1" i="0">
                <a:solidFill>
                  <a:srgbClr val="C9A96E"/>
                </a:solidFill>
                <a:latin typeface="Outfit"/>
              </a:rPr>
              <a:t>.</a:t>
            </a:r>
            <a:r>
              <a:rPr sz="1600" b="0" i="0">
                <a:solidFill>
                  <a:srgbClr val="6B7280"/>
                </a:solidFill>
                <a:latin typeface="Inter"/>
              </a:rPr>
              <a:t>   Gerard McCaul — Astera residency application</a:t>
            </a:r>
          </a:p>
        </p:txBody>
      </p:sp>
      <p:sp>
        <p:nvSpPr>
          <p:cNvPr id="12" name="TextBox 11"/>
          <p:cNvSpPr txBox="1"/>
          <p:nvPr/>
        </p:nvSpPr>
        <p:spPr>
          <a:xfrm>
            <a:off x="10287000" y="6438900"/>
            <a:ext cx="1270000" cy="228600"/>
          </a:xfrm>
          <a:prstGeom prst="rect">
            <a:avLst/>
          </a:prstGeom>
          <a:noFill/>
        </p:spPr>
        <p:txBody>
          <a:bodyPr wrap="square" lIns="0" rIns="0" tIns="0" bIns="0" anchor="t">
            <a:spAutoFit/>
          </a:bodyPr>
          <a:lstStyle/>
          <a:p>
            <a:pPr algn="r"/>
            <a:r>
              <a:rPr sz="1600" b="0" i="0" spc="100">
                <a:solidFill>
                  <a:srgbClr val="6B7280"/>
                </a:solidFill>
                <a:latin typeface="JetBrains Mono"/>
              </a:rPr>
              <a:t>01 / 06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A0E1A"/>
        </a:solidFill>
        <a:effectLst/>
      </p:bgPr>
    </p:bg>
    <p:spTree>
      <p:nvGrpSpPr>
        <p:cNvPr id="1" name=""/>
        <p:cNvGrpSpPr/>
        <p:nvPr/>
      </p:nvGrpSpPr>
      <p:grpSpPr/>
      <p:sp>
        <p:nvSpPr>
          <p:cNvPr id="2" name="Rectangle 1"/>
          <p:cNvSpPr/>
          <p:nvPr/>
        </p:nvSpPr>
        <p:spPr>
          <a:xfrm>
            <a:off x="762000" y="914400"/>
            <a:ext cx="304800" cy="6350"/>
          </a:xfrm>
          <a:prstGeom prst="rect">
            <a:avLst/>
          </a:prstGeom>
          <a:solidFill>
            <a:srgbClr val="C9A9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55700" y="825500"/>
            <a:ext cx="7620000" cy="228600"/>
          </a:xfrm>
          <a:prstGeom prst="rect">
            <a:avLst/>
          </a:prstGeom>
          <a:noFill/>
        </p:spPr>
        <p:txBody>
          <a:bodyPr wrap="square" lIns="0" rIns="0" tIns="0" bIns="0" anchor="t">
            <a:spAutoFit/>
          </a:bodyPr>
          <a:lstStyle/>
          <a:p>
            <a:pPr algn="l"/>
            <a:r>
              <a:rPr sz="1800" b="1" i="0" spc="200">
                <a:solidFill>
                  <a:srgbClr val="C9A96E"/>
                </a:solidFill>
                <a:latin typeface="Inter"/>
              </a:rPr>
              <a:t>THE CLAIM</a:t>
            </a:r>
          </a:p>
        </p:txBody>
      </p:sp>
      <p:sp>
        <p:nvSpPr>
          <p:cNvPr id="4" name="TextBox 3"/>
          <p:cNvSpPr txBox="1"/>
          <p:nvPr/>
        </p:nvSpPr>
        <p:spPr>
          <a:xfrm>
            <a:off x="762000" y="1143000"/>
            <a:ext cx="10160000" cy="698500"/>
          </a:xfrm>
          <a:prstGeom prst="rect">
            <a:avLst/>
          </a:prstGeom>
          <a:noFill/>
        </p:spPr>
        <p:txBody>
          <a:bodyPr wrap="square" lIns="0" rIns="0" tIns="0" bIns="0" anchor="t">
            <a:spAutoFit/>
          </a:bodyPr>
          <a:lstStyle/>
          <a:p>
            <a:pPr algn="l"/>
            <a:r>
              <a:rPr sz="7200" b="1" i="0">
                <a:solidFill>
                  <a:srgbClr val="E8E6E3"/>
                </a:solidFill>
                <a:latin typeface="Outfit"/>
              </a:rPr>
              <a:t>We are here again.</a:t>
            </a:r>
          </a:p>
        </p:txBody>
      </p:sp>
      <p:sp>
        <p:nvSpPr>
          <p:cNvPr id="5" name="TextBox 4"/>
          <p:cNvSpPr txBox="1"/>
          <p:nvPr/>
        </p:nvSpPr>
        <p:spPr>
          <a:xfrm>
            <a:off x="762000" y="1968500"/>
            <a:ext cx="9525000" cy="825500"/>
          </a:xfrm>
          <a:prstGeom prst="rect">
            <a:avLst/>
          </a:prstGeom>
          <a:noFill/>
        </p:spPr>
        <p:txBody>
          <a:bodyPr wrap="square" lIns="0" rIns="0" tIns="0" bIns="0" anchor="t">
            <a:spAutoFit/>
          </a:bodyPr>
          <a:lstStyle/>
          <a:p>
            <a:pPr algn="l"/>
            <a:r>
              <a:rPr sz="2800" b="0" i="0">
                <a:solidFill>
                  <a:srgbClr val="9CA3AF"/>
                </a:solidFill>
                <a:latin typeface="Inter"/>
              </a:rPr>
              <a:t>Intelligence engines exist and work.
</a:t>
            </a:r>
            <a:r>
              <a:rPr sz="2800" b="0" i="0">
                <a:solidFill>
                  <a:srgbClr val="9CA3AF"/>
                </a:solidFill>
                <a:latin typeface="Inter"/>
              </a:rPr>
              <a:t>A physical theory of them does not.</a:t>
            </a:r>
          </a:p>
        </p:txBody>
      </p:sp>
      <p:sp>
        <p:nvSpPr>
          <p:cNvPr id="6" name="Rounded Rectangle 5"/>
          <p:cNvSpPr/>
          <p:nvPr/>
        </p:nvSpPr>
        <p:spPr>
          <a:xfrm>
            <a:off x="762000" y="3238500"/>
            <a:ext cx="5080000" cy="2794000"/>
          </a:xfrm>
          <a:prstGeom prst="roundRect">
            <a:avLst>
              <a:gd name="adj" fmla="val 6000"/>
            </a:avLst>
          </a:prstGeom>
          <a:solidFill>
            <a:srgbClr val="141824"/>
          </a:solidFill>
          <a:ln w="15240">
            <a:solidFill>
              <a:srgbClr val="C9A9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90600" y="3429000"/>
            <a:ext cx="4572000" cy="177800"/>
          </a:xfrm>
          <a:prstGeom prst="rect">
            <a:avLst/>
          </a:prstGeom>
          <a:noFill/>
        </p:spPr>
        <p:txBody>
          <a:bodyPr wrap="square" lIns="0" rIns="0" tIns="0" bIns="0" anchor="t">
            <a:spAutoFit/>
          </a:bodyPr>
          <a:lstStyle/>
          <a:p>
            <a:pPr algn="l"/>
            <a:r>
              <a:rPr sz="1600" b="1" i="0" spc="180">
                <a:solidFill>
                  <a:srgbClr val="C9A96E"/>
                </a:solidFill>
                <a:latin typeface="JetBrains Mono"/>
              </a:rPr>
              <a:t>■ WHAT EXISTS</a:t>
            </a:r>
          </a:p>
        </p:txBody>
      </p:sp>
      <p:sp>
        <p:nvSpPr>
          <p:cNvPr id="8" name="TextBox 7"/>
          <p:cNvSpPr txBox="1"/>
          <p:nvPr/>
        </p:nvSpPr>
        <p:spPr>
          <a:xfrm>
            <a:off x="990600" y="3683000"/>
            <a:ext cx="4572000" cy="444500"/>
          </a:xfrm>
          <a:prstGeom prst="rect">
            <a:avLst/>
          </a:prstGeom>
          <a:noFill/>
        </p:spPr>
        <p:txBody>
          <a:bodyPr wrap="square" lIns="0" rIns="0" tIns="0" bIns="0" anchor="t">
            <a:spAutoFit/>
          </a:bodyPr>
          <a:lstStyle/>
          <a:p>
            <a:pPr algn="l"/>
            <a:r>
              <a:rPr sz="4200" b="1" i="0">
                <a:solidFill>
                  <a:srgbClr val="E8E6E3"/>
                </a:solidFill>
                <a:latin typeface="Outfit"/>
              </a:rPr>
              <a:t>The engines.</a:t>
            </a:r>
          </a:p>
        </p:txBody>
      </p:sp>
      <p:sp>
        <p:nvSpPr>
          <p:cNvPr id="9" name="TextBox 8"/>
          <p:cNvSpPr txBox="1"/>
          <p:nvPr/>
        </p:nvSpPr>
        <p:spPr>
          <a:xfrm>
            <a:off x="990600" y="4191000"/>
            <a:ext cx="4572000" cy="825500"/>
          </a:xfrm>
          <a:prstGeom prst="rect">
            <a:avLst/>
          </a:prstGeom>
          <a:noFill/>
        </p:spPr>
        <p:txBody>
          <a:bodyPr wrap="square" lIns="0" rIns="0" tIns="0" bIns="0" anchor="t">
            <a:spAutoFit/>
          </a:bodyPr>
          <a:lstStyle/>
          <a:p>
            <a:pPr algn="l"/>
            <a:r>
              <a:rPr sz="1800" b="0" i="0">
                <a:solidFill>
                  <a:srgbClr val="9CA3AF"/>
                </a:solidFill>
                <a:latin typeface="Inter"/>
              </a:rPr>
              <a:t>Biological brains. Deep networks. Neuromorphic chips. We build them, operate them, and depend on them — at ruinous energetic cost.</a:t>
            </a:r>
          </a:p>
        </p:txBody>
      </p:sp>
      <p:sp>
        <p:nvSpPr>
          <p:cNvPr id="10" name="TextBox 9"/>
          <p:cNvSpPr txBox="1"/>
          <p:nvPr/>
        </p:nvSpPr>
        <p:spPr>
          <a:xfrm>
            <a:off x="990600" y="5080000"/>
            <a:ext cx="177800" cy="177800"/>
          </a:xfrm>
          <a:prstGeom prst="rect">
            <a:avLst/>
          </a:prstGeom>
          <a:noFill/>
        </p:spPr>
        <p:txBody>
          <a:bodyPr wrap="square" lIns="0" rIns="0" tIns="0" bIns="0" anchor="t">
            <a:spAutoFit/>
          </a:bodyPr>
          <a:lstStyle/>
          <a:p>
            <a:pPr algn="l"/>
            <a:r>
              <a:rPr sz="1800" b="0" i="0">
                <a:solidFill>
                  <a:srgbClr val="6B7280"/>
                </a:solidFill>
                <a:latin typeface="Inter"/>
              </a:rPr>
              <a:t>—</a:t>
            </a:r>
          </a:p>
        </p:txBody>
      </p:sp>
      <p:sp>
        <p:nvSpPr>
          <p:cNvPr id="11" name="TextBox 10"/>
          <p:cNvSpPr txBox="1"/>
          <p:nvPr/>
        </p:nvSpPr>
        <p:spPr>
          <a:xfrm>
            <a:off x="1206500" y="5080000"/>
            <a:ext cx="4445000" cy="177800"/>
          </a:xfrm>
          <a:prstGeom prst="rect">
            <a:avLst/>
          </a:prstGeom>
          <a:noFill/>
        </p:spPr>
        <p:txBody>
          <a:bodyPr wrap="square" lIns="0" rIns="0" tIns="0" bIns="0" anchor="t">
            <a:spAutoFit/>
          </a:bodyPr>
          <a:lstStyle/>
          <a:p>
            <a:pPr algn="l"/>
            <a:r>
              <a:rPr sz="1800" b="0" i="0">
                <a:solidFill>
                  <a:srgbClr val="9CA3AF"/>
                </a:solidFill>
                <a:latin typeface="Inter"/>
              </a:rPr>
              <a:t>They work.</a:t>
            </a:r>
          </a:p>
        </p:txBody>
      </p:sp>
      <p:sp>
        <p:nvSpPr>
          <p:cNvPr id="12" name="TextBox 11"/>
          <p:cNvSpPr txBox="1"/>
          <p:nvPr/>
        </p:nvSpPr>
        <p:spPr>
          <a:xfrm>
            <a:off x="990600" y="5308600"/>
            <a:ext cx="177800" cy="177800"/>
          </a:xfrm>
          <a:prstGeom prst="rect">
            <a:avLst/>
          </a:prstGeom>
          <a:noFill/>
        </p:spPr>
        <p:txBody>
          <a:bodyPr wrap="square" lIns="0" rIns="0" tIns="0" bIns="0" anchor="t">
            <a:spAutoFit/>
          </a:bodyPr>
          <a:lstStyle/>
          <a:p>
            <a:pPr algn="l"/>
            <a:r>
              <a:rPr sz="1800" b="0" i="0">
                <a:solidFill>
                  <a:srgbClr val="6B7280"/>
                </a:solidFill>
                <a:latin typeface="Inter"/>
              </a:rPr>
              <a:t>—</a:t>
            </a:r>
          </a:p>
        </p:txBody>
      </p:sp>
      <p:sp>
        <p:nvSpPr>
          <p:cNvPr id="13" name="TextBox 12"/>
          <p:cNvSpPr txBox="1"/>
          <p:nvPr/>
        </p:nvSpPr>
        <p:spPr>
          <a:xfrm>
            <a:off x="1206500" y="5308600"/>
            <a:ext cx="4445000" cy="177800"/>
          </a:xfrm>
          <a:prstGeom prst="rect">
            <a:avLst/>
          </a:prstGeom>
          <a:noFill/>
        </p:spPr>
        <p:txBody>
          <a:bodyPr wrap="square" lIns="0" rIns="0" tIns="0" bIns="0" anchor="t">
            <a:spAutoFit/>
          </a:bodyPr>
          <a:lstStyle/>
          <a:p>
            <a:pPr algn="l"/>
            <a:r>
              <a:rPr sz="1800" b="0" i="0">
                <a:solidFill>
                  <a:srgbClr val="9CA3AF"/>
                </a:solidFill>
                <a:latin typeface="Inter"/>
              </a:rPr>
              <a:t>We have empirical scaling laws.</a:t>
            </a:r>
          </a:p>
        </p:txBody>
      </p:sp>
      <p:sp>
        <p:nvSpPr>
          <p:cNvPr id="14" name="TextBox 13"/>
          <p:cNvSpPr txBox="1"/>
          <p:nvPr/>
        </p:nvSpPr>
        <p:spPr>
          <a:xfrm>
            <a:off x="990600" y="5537200"/>
            <a:ext cx="177800" cy="177800"/>
          </a:xfrm>
          <a:prstGeom prst="rect">
            <a:avLst/>
          </a:prstGeom>
          <a:noFill/>
        </p:spPr>
        <p:txBody>
          <a:bodyPr wrap="square" lIns="0" rIns="0" tIns="0" bIns="0" anchor="t">
            <a:spAutoFit/>
          </a:bodyPr>
          <a:lstStyle/>
          <a:p>
            <a:pPr algn="l"/>
            <a:r>
              <a:rPr sz="1800" b="0" i="0">
                <a:solidFill>
                  <a:srgbClr val="6B7280"/>
                </a:solidFill>
                <a:latin typeface="Inter"/>
              </a:rPr>
              <a:t>—</a:t>
            </a:r>
          </a:p>
        </p:txBody>
      </p:sp>
      <p:sp>
        <p:nvSpPr>
          <p:cNvPr id="15" name="TextBox 14"/>
          <p:cNvSpPr txBox="1"/>
          <p:nvPr/>
        </p:nvSpPr>
        <p:spPr>
          <a:xfrm>
            <a:off x="1206500" y="5537200"/>
            <a:ext cx="4445000" cy="177800"/>
          </a:xfrm>
          <a:prstGeom prst="rect">
            <a:avLst/>
          </a:prstGeom>
          <a:noFill/>
        </p:spPr>
        <p:txBody>
          <a:bodyPr wrap="square" lIns="0" rIns="0" tIns="0" bIns="0" anchor="t">
            <a:spAutoFit/>
          </a:bodyPr>
          <a:lstStyle/>
          <a:p>
            <a:pPr algn="l"/>
            <a:r>
              <a:rPr sz="1800" b="0" i="0">
                <a:solidFill>
                  <a:srgbClr val="9CA3AF"/>
                </a:solidFill>
                <a:latin typeface="Inter"/>
              </a:rPr>
              <a:t>We do not know why they work.</a:t>
            </a:r>
          </a:p>
        </p:txBody>
      </p:sp>
      <p:sp>
        <p:nvSpPr>
          <p:cNvPr id="16" name="Rounded Rectangle 15"/>
          <p:cNvSpPr/>
          <p:nvPr/>
        </p:nvSpPr>
        <p:spPr>
          <a:xfrm>
            <a:off x="6350000" y="3238500"/>
            <a:ext cx="5080000" cy="2794000"/>
          </a:xfrm>
          <a:prstGeom prst="roundRect">
            <a:avLst>
              <a:gd name="adj" fmla="val 6000"/>
            </a:avLst>
          </a:prstGeom>
          <a:solidFill>
            <a:srgbClr val="141824"/>
          </a:solidFill>
          <a:ln w="15240">
            <a:solidFill>
              <a:srgbClr val="2A2E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78600" y="3429000"/>
            <a:ext cx="4572000" cy="177800"/>
          </a:xfrm>
          <a:prstGeom prst="rect">
            <a:avLst/>
          </a:prstGeom>
          <a:noFill/>
        </p:spPr>
        <p:txBody>
          <a:bodyPr wrap="square" lIns="0" rIns="0" tIns="0" bIns="0" anchor="t">
            <a:spAutoFit/>
          </a:bodyPr>
          <a:lstStyle/>
          <a:p>
            <a:pPr algn="l"/>
            <a:r>
              <a:rPr sz="1600" b="1" i="0" spc="180">
                <a:solidFill>
                  <a:srgbClr val="F43F5E"/>
                </a:solidFill>
                <a:latin typeface="JetBrains Mono"/>
              </a:rPr>
              <a:t>□ WHAT IS MISSING</a:t>
            </a:r>
          </a:p>
        </p:txBody>
      </p:sp>
      <p:sp>
        <p:nvSpPr>
          <p:cNvPr id="18" name="TextBox 17"/>
          <p:cNvSpPr txBox="1"/>
          <p:nvPr/>
        </p:nvSpPr>
        <p:spPr>
          <a:xfrm>
            <a:off x="6578600" y="3683000"/>
            <a:ext cx="4572000" cy="444500"/>
          </a:xfrm>
          <a:prstGeom prst="rect">
            <a:avLst/>
          </a:prstGeom>
          <a:noFill/>
        </p:spPr>
        <p:txBody>
          <a:bodyPr wrap="square" lIns="0" rIns="0" tIns="0" bIns="0" anchor="t">
            <a:spAutoFit/>
          </a:bodyPr>
          <a:lstStyle/>
          <a:p>
            <a:pPr algn="l"/>
            <a:r>
              <a:rPr sz="4200" b="1" i="0">
                <a:solidFill>
                  <a:srgbClr val="E8E6E3"/>
                </a:solidFill>
                <a:latin typeface="Outfit"/>
              </a:rPr>
              <a:t>A theory of them.</a:t>
            </a:r>
          </a:p>
        </p:txBody>
      </p:sp>
      <p:sp>
        <p:nvSpPr>
          <p:cNvPr id="19" name="TextBox 18"/>
          <p:cNvSpPr txBox="1"/>
          <p:nvPr/>
        </p:nvSpPr>
        <p:spPr>
          <a:xfrm>
            <a:off x="6578600" y="4191000"/>
            <a:ext cx="4572000" cy="825500"/>
          </a:xfrm>
          <a:prstGeom prst="rect">
            <a:avLst/>
          </a:prstGeom>
          <a:noFill/>
        </p:spPr>
        <p:txBody>
          <a:bodyPr wrap="square" lIns="0" rIns="0" tIns="0" bIns="0" anchor="t">
            <a:spAutoFit/>
          </a:bodyPr>
          <a:lstStyle/>
          <a:p>
            <a:pPr algn="l"/>
            <a:r>
              <a:rPr sz="1800" b="0" i="0">
                <a:solidFill>
                  <a:srgbClr val="9CA3AF"/>
                </a:solidFill>
                <a:latin typeface="Inter"/>
              </a:rPr>
              <a:t>A principled account of what an intelligence is, what it costs, and what any given physical substrate can efficiently do.</a:t>
            </a:r>
          </a:p>
        </p:txBody>
      </p:sp>
      <p:sp>
        <p:nvSpPr>
          <p:cNvPr id="20" name="TextBox 19"/>
          <p:cNvSpPr txBox="1"/>
          <p:nvPr/>
        </p:nvSpPr>
        <p:spPr>
          <a:xfrm>
            <a:off x="6578600" y="5080000"/>
            <a:ext cx="177800" cy="177800"/>
          </a:xfrm>
          <a:prstGeom prst="rect">
            <a:avLst/>
          </a:prstGeom>
          <a:noFill/>
        </p:spPr>
        <p:txBody>
          <a:bodyPr wrap="square" lIns="0" rIns="0" tIns="0" bIns="0" anchor="t">
            <a:spAutoFit/>
          </a:bodyPr>
          <a:lstStyle/>
          <a:p>
            <a:pPr algn="l"/>
            <a:r>
              <a:rPr sz="1800" b="0" i="0">
                <a:solidFill>
                  <a:srgbClr val="6B7280"/>
                </a:solidFill>
                <a:latin typeface="Inter"/>
              </a:rPr>
              <a:t>—</a:t>
            </a:r>
          </a:p>
        </p:txBody>
      </p:sp>
      <p:sp>
        <p:nvSpPr>
          <p:cNvPr id="21" name="TextBox 20"/>
          <p:cNvSpPr txBox="1"/>
          <p:nvPr/>
        </p:nvSpPr>
        <p:spPr>
          <a:xfrm>
            <a:off x="6794500" y="5080000"/>
            <a:ext cx="4445000" cy="177800"/>
          </a:xfrm>
          <a:prstGeom prst="rect">
            <a:avLst/>
          </a:prstGeom>
          <a:noFill/>
        </p:spPr>
        <p:txBody>
          <a:bodyPr wrap="square" lIns="0" rIns="0" tIns="0" bIns="0" anchor="t">
            <a:spAutoFit/>
          </a:bodyPr>
          <a:lstStyle/>
          <a:p>
            <a:pPr algn="l"/>
            <a:r>
              <a:rPr sz="1800" b="0" i="0">
                <a:solidFill>
                  <a:srgbClr val="9CA3AF"/>
                </a:solidFill>
                <a:latin typeface="Inter"/>
              </a:rPr>
              <a:t>No Carnot bound.</a:t>
            </a:r>
          </a:p>
        </p:txBody>
      </p:sp>
      <p:sp>
        <p:nvSpPr>
          <p:cNvPr id="22" name="TextBox 21"/>
          <p:cNvSpPr txBox="1"/>
          <p:nvPr/>
        </p:nvSpPr>
        <p:spPr>
          <a:xfrm>
            <a:off x="6578600" y="5308600"/>
            <a:ext cx="177800" cy="177800"/>
          </a:xfrm>
          <a:prstGeom prst="rect">
            <a:avLst/>
          </a:prstGeom>
          <a:noFill/>
        </p:spPr>
        <p:txBody>
          <a:bodyPr wrap="square" lIns="0" rIns="0" tIns="0" bIns="0" anchor="t">
            <a:spAutoFit/>
          </a:bodyPr>
          <a:lstStyle/>
          <a:p>
            <a:pPr algn="l"/>
            <a:r>
              <a:rPr sz="1800" b="0" i="0">
                <a:solidFill>
                  <a:srgbClr val="6B7280"/>
                </a:solidFill>
                <a:latin typeface="Inter"/>
              </a:rPr>
              <a:t>—</a:t>
            </a:r>
          </a:p>
        </p:txBody>
      </p:sp>
      <p:sp>
        <p:nvSpPr>
          <p:cNvPr id="23" name="TextBox 22"/>
          <p:cNvSpPr txBox="1"/>
          <p:nvPr/>
        </p:nvSpPr>
        <p:spPr>
          <a:xfrm>
            <a:off x="6794500" y="5308600"/>
            <a:ext cx="4445000" cy="177800"/>
          </a:xfrm>
          <a:prstGeom prst="rect">
            <a:avLst/>
          </a:prstGeom>
          <a:noFill/>
        </p:spPr>
        <p:txBody>
          <a:bodyPr wrap="square" lIns="0" rIns="0" tIns="0" bIns="0" anchor="t">
            <a:spAutoFit/>
          </a:bodyPr>
          <a:lstStyle/>
          <a:p>
            <a:pPr algn="l"/>
            <a:r>
              <a:rPr sz="1800" b="0" i="0">
                <a:solidFill>
                  <a:srgbClr val="9CA3AF"/>
                </a:solidFill>
                <a:latin typeface="Inter"/>
              </a:rPr>
              <a:t>No closure criterion.</a:t>
            </a:r>
          </a:p>
        </p:txBody>
      </p:sp>
      <p:sp>
        <p:nvSpPr>
          <p:cNvPr id="24" name="TextBox 23"/>
          <p:cNvSpPr txBox="1"/>
          <p:nvPr/>
        </p:nvSpPr>
        <p:spPr>
          <a:xfrm>
            <a:off x="6578600" y="5537200"/>
            <a:ext cx="177800" cy="177800"/>
          </a:xfrm>
          <a:prstGeom prst="rect">
            <a:avLst/>
          </a:prstGeom>
          <a:noFill/>
        </p:spPr>
        <p:txBody>
          <a:bodyPr wrap="square" lIns="0" rIns="0" tIns="0" bIns="0" anchor="t">
            <a:spAutoFit/>
          </a:bodyPr>
          <a:lstStyle/>
          <a:p>
            <a:pPr algn="l"/>
            <a:r>
              <a:rPr sz="1800" b="0" i="0">
                <a:solidFill>
                  <a:srgbClr val="6B7280"/>
                </a:solidFill>
                <a:latin typeface="Inter"/>
              </a:rPr>
              <a:t>—</a:t>
            </a:r>
          </a:p>
        </p:txBody>
      </p:sp>
      <p:sp>
        <p:nvSpPr>
          <p:cNvPr id="25" name="TextBox 24"/>
          <p:cNvSpPr txBox="1"/>
          <p:nvPr/>
        </p:nvSpPr>
        <p:spPr>
          <a:xfrm>
            <a:off x="6794500" y="5537200"/>
            <a:ext cx="4445000" cy="177800"/>
          </a:xfrm>
          <a:prstGeom prst="rect">
            <a:avLst/>
          </a:prstGeom>
          <a:noFill/>
        </p:spPr>
        <p:txBody>
          <a:bodyPr wrap="square" lIns="0" rIns="0" tIns="0" bIns="0" anchor="t">
            <a:spAutoFit/>
          </a:bodyPr>
          <a:lstStyle/>
          <a:p>
            <a:pPr algn="l"/>
            <a:r>
              <a:rPr sz="1800" b="0" i="0">
                <a:solidFill>
                  <a:srgbClr val="9CA3AF"/>
                </a:solidFill>
                <a:latin typeface="Inter"/>
              </a:rPr>
              <a:t>No substrate-independent accounting.</a:t>
            </a:r>
          </a:p>
        </p:txBody>
      </p:sp>
      <p:sp>
        <p:nvSpPr>
          <p:cNvPr id="26" name="TextBox 25"/>
          <p:cNvSpPr txBox="1"/>
          <p:nvPr/>
        </p:nvSpPr>
        <p:spPr>
          <a:xfrm>
            <a:off x="762000" y="6438900"/>
            <a:ext cx="7620000" cy="228600"/>
          </a:xfrm>
          <a:prstGeom prst="rect">
            <a:avLst/>
          </a:prstGeom>
          <a:noFill/>
        </p:spPr>
        <p:txBody>
          <a:bodyPr wrap="square" lIns="0" rIns="0" tIns="0" bIns="0" anchor="t">
            <a:spAutoFit/>
          </a:bodyPr>
          <a:lstStyle/>
          <a:p>
            <a:pPr algn="l"/>
            <a:r>
              <a:rPr sz="2000" b="1" i="0">
                <a:solidFill>
                  <a:srgbClr val="6B7280"/>
                </a:solidFill>
                <a:latin typeface="Outfit"/>
              </a:rPr>
              <a:t>Synthetics</a:t>
            </a:r>
            <a:r>
              <a:rPr sz="2000" b="1" i="0">
                <a:solidFill>
                  <a:srgbClr val="C9A96E"/>
                </a:solidFill>
                <a:latin typeface="Outfit"/>
              </a:rPr>
              <a:t>.</a:t>
            </a:r>
            <a:r>
              <a:rPr sz="1600" b="0" i="0">
                <a:solidFill>
                  <a:srgbClr val="6B7280"/>
                </a:solidFill>
                <a:latin typeface="Inter"/>
              </a:rPr>
              <a:t>   </a:t>
            </a:r>
          </a:p>
        </p:txBody>
      </p:sp>
      <p:sp>
        <p:nvSpPr>
          <p:cNvPr id="27" name="TextBox 26"/>
          <p:cNvSpPr txBox="1"/>
          <p:nvPr/>
        </p:nvSpPr>
        <p:spPr>
          <a:xfrm>
            <a:off x="10287000" y="6438900"/>
            <a:ext cx="1270000" cy="228600"/>
          </a:xfrm>
          <a:prstGeom prst="rect">
            <a:avLst/>
          </a:prstGeom>
          <a:noFill/>
        </p:spPr>
        <p:txBody>
          <a:bodyPr wrap="square" lIns="0" rIns="0" tIns="0" bIns="0" anchor="t">
            <a:spAutoFit/>
          </a:bodyPr>
          <a:lstStyle/>
          <a:p>
            <a:pPr algn="r"/>
            <a:r>
              <a:rPr sz="1600" b="0" i="0" spc="100">
                <a:solidFill>
                  <a:srgbClr val="6B7280"/>
                </a:solidFill>
                <a:latin typeface="JetBrains Mono"/>
              </a:rPr>
              <a:t>02 / 06</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A0E1A"/>
        </a:solidFill>
        <a:effectLst/>
      </p:bgPr>
    </p:bg>
    <p:spTree>
      <p:nvGrpSpPr>
        <p:cNvPr id="1" name=""/>
        <p:cNvGrpSpPr/>
        <p:nvPr/>
      </p:nvGrpSpPr>
      <p:grpSpPr/>
      <p:sp>
        <p:nvSpPr>
          <p:cNvPr id="2" name="Rectangle 1"/>
          <p:cNvSpPr/>
          <p:nvPr/>
        </p:nvSpPr>
        <p:spPr>
          <a:xfrm>
            <a:off x="762000" y="469900"/>
            <a:ext cx="304800" cy="6350"/>
          </a:xfrm>
          <a:prstGeom prst="rect">
            <a:avLst/>
          </a:prstGeom>
          <a:solidFill>
            <a:srgbClr val="C9A9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55700" y="381000"/>
            <a:ext cx="7620000" cy="228600"/>
          </a:xfrm>
          <a:prstGeom prst="rect">
            <a:avLst/>
          </a:prstGeom>
          <a:noFill/>
        </p:spPr>
        <p:txBody>
          <a:bodyPr wrap="square" lIns="0" rIns="0" tIns="0" bIns="0" anchor="t">
            <a:spAutoFit/>
          </a:bodyPr>
          <a:lstStyle/>
          <a:p>
            <a:pPr algn="l"/>
            <a:r>
              <a:rPr sz="1800" b="1" i="0" spc="200">
                <a:solidFill>
                  <a:srgbClr val="C9A96E"/>
                </a:solidFill>
                <a:latin typeface="Inter"/>
              </a:rPr>
              <a:t>THE FOUNDATIONS ARE ALREADY WRITTEN</a:t>
            </a:r>
          </a:p>
        </p:txBody>
      </p:sp>
      <p:sp>
        <p:nvSpPr>
          <p:cNvPr id="4" name="TextBox 3"/>
          <p:cNvSpPr txBox="1"/>
          <p:nvPr/>
        </p:nvSpPr>
        <p:spPr>
          <a:xfrm>
            <a:off x="762000" y="698500"/>
            <a:ext cx="10795000" cy="825500"/>
          </a:xfrm>
          <a:prstGeom prst="rect">
            <a:avLst/>
          </a:prstGeom>
          <a:noFill/>
        </p:spPr>
        <p:txBody>
          <a:bodyPr wrap="square" lIns="0" rIns="0" tIns="0" bIns="0" anchor="t">
            <a:spAutoFit/>
          </a:bodyPr>
          <a:lstStyle/>
          <a:p>
            <a:pPr algn="l"/>
            <a:r>
              <a:rPr sz="4400" b="1" i="0">
                <a:solidFill>
                  <a:srgbClr val="E8E6E3"/>
                </a:solidFill>
                <a:latin typeface="Outfit"/>
              </a:rPr>
              <a:t>Two pre-preprints,
</a:t>
            </a:r>
            <a:r>
              <a:rPr sz="4400" b="1" i="0">
                <a:solidFill>
                  <a:srgbClr val="E8E6E3"/>
                </a:solidFill>
                <a:latin typeface="Outfit"/>
              </a:rPr>
              <a:t>one static skeleton.</a:t>
            </a:r>
          </a:p>
        </p:txBody>
      </p:sp>
      <p:sp>
        <p:nvSpPr>
          <p:cNvPr id="5" name="TextBox 4"/>
          <p:cNvSpPr txBox="1"/>
          <p:nvPr/>
        </p:nvSpPr>
        <p:spPr>
          <a:xfrm>
            <a:off x="762000" y="1587500"/>
            <a:ext cx="10795000" cy="444500"/>
          </a:xfrm>
          <a:prstGeom prst="rect">
            <a:avLst/>
          </a:prstGeom>
          <a:noFill/>
        </p:spPr>
        <p:txBody>
          <a:bodyPr wrap="square" lIns="0" rIns="0" tIns="0" bIns="0" anchor="t">
            <a:spAutoFit/>
          </a:bodyPr>
          <a:lstStyle/>
          <a:p>
            <a:pPr algn="l"/>
            <a:r>
              <a:rPr sz="1800" b="0" i="0">
                <a:solidFill>
                  <a:srgbClr val="9CA3AF"/>
                </a:solidFill>
                <a:latin typeface="Inter"/>
              </a:rPr>
              <a:t>The residency extends both into </a:t>
            </a:r>
            <a:r>
              <a:rPr sz="1800" b="1" i="0">
                <a:solidFill>
                  <a:srgbClr val="C9A96E"/>
                </a:solidFill>
                <a:latin typeface="Inter"/>
              </a:rPr>
              <a:t>dynamics</a:t>
            </a:r>
            <a:r>
              <a:rPr sz="1800" b="0" i="0">
                <a:solidFill>
                  <a:srgbClr val="9CA3AF"/>
                </a:solidFill>
                <a:latin typeface="Inter"/>
              </a:rPr>
              <a:t>, connects them formally, and applies them to </a:t>
            </a:r>
            <a:r>
              <a:rPr sz="1800" b="1" i="0">
                <a:solidFill>
                  <a:srgbClr val="C9A96E"/>
                </a:solidFill>
                <a:latin typeface="Inter"/>
              </a:rPr>
              <a:t>neuromorphic computing</a:t>
            </a:r>
            <a:r>
              <a:rPr sz="1800" b="0" i="0">
                <a:solidFill>
                  <a:srgbClr val="9CA3AF"/>
                </a:solidFill>
                <a:latin typeface="Inter"/>
              </a:rPr>
              <a:t>.</a:t>
            </a:r>
          </a:p>
        </p:txBody>
      </p:sp>
      <p:sp>
        <p:nvSpPr>
          <p:cNvPr id="6" name="Rounded Rectangle 5"/>
          <p:cNvSpPr/>
          <p:nvPr/>
        </p:nvSpPr>
        <p:spPr>
          <a:xfrm>
            <a:off x="762000" y="2159000"/>
            <a:ext cx="10668000" cy="3937000"/>
          </a:xfrm>
          <a:prstGeom prst="roundRect">
            <a:avLst>
              <a:gd name="adj" fmla="val 6000"/>
            </a:avLst>
          </a:prstGeom>
          <a:solidFill>
            <a:srgbClr val="111827"/>
          </a:solidFill>
          <a:ln w="12700">
            <a:solidFill>
              <a:srgbClr val="2A2E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62000" y="2159000"/>
            <a:ext cx="10668000" cy="355600"/>
          </a:xfrm>
          <a:prstGeom prst="rect">
            <a:avLst/>
          </a:prstGeom>
          <a:solidFill>
            <a:srgbClr val="1A1E2A"/>
          </a:solidFill>
          <a:ln w="12700">
            <a:solidFill>
              <a:srgbClr val="2A2E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901700" y="2273300"/>
            <a:ext cx="101600" cy="101600"/>
          </a:xfrm>
          <a:prstGeom prst="rect">
            <a:avLst/>
          </a:prstGeom>
          <a:solidFill>
            <a:srgbClr val="4040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041400" y="2273300"/>
            <a:ext cx="101600" cy="101600"/>
          </a:xfrm>
          <a:prstGeom prst="rect">
            <a:avLst/>
          </a:prstGeom>
          <a:solidFill>
            <a:srgbClr val="4040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181100" y="2273300"/>
            <a:ext cx="101600" cy="101600"/>
          </a:xfrm>
          <a:prstGeom prst="rect">
            <a:avLst/>
          </a:prstGeom>
          <a:solidFill>
            <a:srgbClr val="4040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810000" y="2247900"/>
            <a:ext cx="4572000" cy="203200"/>
          </a:xfrm>
          <a:prstGeom prst="rect">
            <a:avLst/>
          </a:prstGeom>
          <a:noFill/>
        </p:spPr>
        <p:txBody>
          <a:bodyPr wrap="square" lIns="0" rIns="0" tIns="0" bIns="0" anchor="t">
            <a:spAutoFit/>
          </a:bodyPr>
          <a:lstStyle/>
          <a:p>
            <a:pPr algn="ctr"/>
            <a:r>
              <a:rPr sz="1600" b="1" i="0">
                <a:solidFill>
                  <a:srgbClr val="9CA3AF"/>
                </a:solidFill>
                <a:latin typeface="JetBrains Mono"/>
              </a:rPr>
              <a:t>gmccaul.co.uk</a:t>
            </a:r>
            <a:r>
              <a:rPr sz="1600" b="0" i="0">
                <a:solidFill>
                  <a:srgbClr val="6B7280"/>
                </a:solidFill>
                <a:latin typeface="JetBrains Mono"/>
              </a:rPr>
              <a:t>/physics.html  #pre-preprints</a:t>
            </a:r>
          </a:p>
        </p:txBody>
      </p:sp>
      <p:sp>
        <p:nvSpPr>
          <p:cNvPr id="12" name="Rectangle 11"/>
          <p:cNvSpPr/>
          <p:nvPr/>
        </p:nvSpPr>
        <p:spPr>
          <a:xfrm>
            <a:off x="1003300" y="2774950"/>
            <a:ext cx="152400" cy="6350"/>
          </a:xfrm>
          <a:prstGeom prst="rect">
            <a:avLst/>
          </a:prstGeom>
          <a:solidFill>
            <a:srgbClr val="C9A9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219200" y="2679700"/>
            <a:ext cx="2540000" cy="177800"/>
          </a:xfrm>
          <a:prstGeom prst="rect">
            <a:avLst/>
          </a:prstGeom>
          <a:noFill/>
        </p:spPr>
        <p:txBody>
          <a:bodyPr wrap="square" lIns="0" rIns="0" tIns="0" bIns="0" anchor="t">
            <a:spAutoFit/>
          </a:bodyPr>
          <a:lstStyle/>
          <a:p>
            <a:pPr algn="l"/>
            <a:r>
              <a:rPr sz="1600" b="1" i="0" spc="160">
                <a:solidFill>
                  <a:srgbClr val="C9A96E"/>
                </a:solidFill>
                <a:latin typeface="Inter"/>
              </a:rPr>
              <a:t>DRAFTS</a:t>
            </a:r>
          </a:p>
        </p:txBody>
      </p:sp>
      <p:sp>
        <p:nvSpPr>
          <p:cNvPr id="14" name="TextBox 13"/>
          <p:cNvSpPr txBox="1"/>
          <p:nvPr/>
        </p:nvSpPr>
        <p:spPr>
          <a:xfrm>
            <a:off x="1003300" y="2857500"/>
            <a:ext cx="8890000" cy="444500"/>
          </a:xfrm>
          <a:prstGeom prst="rect">
            <a:avLst/>
          </a:prstGeom>
          <a:noFill/>
        </p:spPr>
        <p:txBody>
          <a:bodyPr wrap="square" lIns="0" rIns="0" tIns="0" bIns="0" anchor="t">
            <a:spAutoFit/>
          </a:bodyPr>
          <a:lstStyle/>
          <a:p>
            <a:pPr algn="l"/>
            <a:r>
              <a:rPr sz="3600" b="1" i="0">
                <a:solidFill>
                  <a:srgbClr val="E8E6E3"/>
                </a:solidFill>
                <a:latin typeface="Outfit"/>
              </a:rPr>
              <a:t>Pre-preprints</a:t>
            </a:r>
          </a:p>
        </p:txBody>
      </p:sp>
      <p:sp>
        <p:nvSpPr>
          <p:cNvPr id="15" name="TextBox 14"/>
          <p:cNvSpPr txBox="1"/>
          <p:nvPr/>
        </p:nvSpPr>
        <p:spPr>
          <a:xfrm>
            <a:off x="1003300" y="3302000"/>
            <a:ext cx="9525000" cy="317500"/>
          </a:xfrm>
          <a:prstGeom prst="rect">
            <a:avLst/>
          </a:prstGeom>
          <a:noFill/>
        </p:spPr>
        <p:txBody>
          <a:bodyPr wrap="square" lIns="0" rIns="0" tIns="0" bIns="0" anchor="t">
            <a:spAutoFit/>
          </a:bodyPr>
          <a:lstStyle/>
          <a:p>
            <a:pPr algn="l"/>
            <a:r>
              <a:rPr sz="1600" b="0" i="0">
                <a:solidFill>
                  <a:srgbClr val="9CA3AF"/>
                </a:solidFill>
                <a:latin typeface="Inter"/>
              </a:rPr>
              <a:t>In-progress drafts of a foundational document for a broader program concerned with a physical theory of representations.</a:t>
            </a:r>
          </a:p>
        </p:txBody>
      </p:sp>
      <p:sp>
        <p:nvSpPr>
          <p:cNvPr id="16" name="Rounded Rectangle 15"/>
          <p:cNvSpPr/>
          <p:nvPr/>
        </p:nvSpPr>
        <p:spPr>
          <a:xfrm>
            <a:off x="1003300" y="3810000"/>
            <a:ext cx="5080000" cy="2032000"/>
          </a:xfrm>
          <a:prstGeom prst="roundRect">
            <a:avLst>
              <a:gd name="adj" fmla="val 6000"/>
            </a:avLst>
          </a:prstGeom>
          <a:solidFill>
            <a:srgbClr val="141824"/>
          </a:solidFill>
          <a:ln w="15240">
            <a:solidFill>
              <a:srgbClr val="C9A9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181100" y="3937000"/>
            <a:ext cx="4699000" cy="381000"/>
          </a:xfrm>
          <a:prstGeom prst="rect">
            <a:avLst/>
          </a:prstGeom>
          <a:noFill/>
        </p:spPr>
        <p:txBody>
          <a:bodyPr wrap="square" lIns="0" rIns="0" tIns="0" bIns="0" anchor="t">
            <a:spAutoFit/>
          </a:bodyPr>
          <a:lstStyle/>
          <a:p>
            <a:pPr algn="l"/>
            <a:r>
              <a:rPr sz="2400" b="1" i="0">
                <a:solidFill>
                  <a:srgbClr val="E8E6E3"/>
                </a:solidFill>
                <a:latin typeface="Outfit"/>
              </a:rPr>
              <a:t>The Cost of Complexity</a:t>
            </a:r>
          </a:p>
        </p:txBody>
      </p:sp>
      <p:sp>
        <p:nvSpPr>
          <p:cNvPr id="18" name="TextBox 17"/>
          <p:cNvSpPr txBox="1"/>
          <p:nvPr/>
        </p:nvSpPr>
        <p:spPr>
          <a:xfrm>
            <a:off x="1181100" y="4381500"/>
            <a:ext cx="4699000" cy="177800"/>
          </a:xfrm>
          <a:prstGeom prst="rect">
            <a:avLst/>
          </a:prstGeom>
          <a:noFill/>
        </p:spPr>
        <p:txBody>
          <a:bodyPr wrap="square" lIns="0" rIns="0" tIns="0" bIns="0" anchor="t">
            <a:spAutoFit/>
          </a:bodyPr>
          <a:lstStyle/>
          <a:p>
            <a:pPr algn="l"/>
            <a:r>
              <a:rPr sz="1600" b="1" i="0">
                <a:solidFill>
                  <a:srgbClr val="C9A96E"/>
                </a:solidFill>
                <a:latin typeface="Inter"/>
              </a:rPr>
              <a:t>G. M</a:t>
            </a:r>
            <a:r>
              <a:rPr sz="1100" b="1" i="0">
                <a:solidFill>
                  <a:srgbClr val="C9A96E"/>
                </a:solidFill>
                <a:latin typeface="Inter"/>
              </a:rPr>
              <a:t>c</a:t>
            </a:r>
            <a:r>
              <a:rPr sz="1600" b="1" i="0">
                <a:solidFill>
                  <a:srgbClr val="C9A96E"/>
                </a:solidFill>
                <a:latin typeface="Inter"/>
              </a:rPr>
              <a:t>Caul</a:t>
            </a:r>
          </a:p>
        </p:txBody>
      </p:sp>
      <p:sp>
        <p:nvSpPr>
          <p:cNvPr id="19" name="TextBox 18"/>
          <p:cNvSpPr txBox="1"/>
          <p:nvPr/>
        </p:nvSpPr>
        <p:spPr>
          <a:xfrm>
            <a:off x="1181100" y="4559300"/>
            <a:ext cx="4699000" cy="177800"/>
          </a:xfrm>
          <a:prstGeom prst="rect">
            <a:avLst/>
          </a:prstGeom>
          <a:noFill/>
        </p:spPr>
        <p:txBody>
          <a:bodyPr wrap="square" lIns="0" rIns="0" tIns="0" bIns="0" anchor="t">
            <a:spAutoFit/>
          </a:bodyPr>
          <a:lstStyle/>
          <a:p>
            <a:pPr algn="l"/>
            <a:r>
              <a:rPr sz="1600" b="0" i="1">
                <a:solidFill>
                  <a:srgbClr val="6B7280"/>
                </a:solidFill>
                <a:latin typeface="Inter"/>
              </a:rPr>
              <a:t>In-progress draft</a:t>
            </a:r>
          </a:p>
        </p:txBody>
      </p:sp>
      <p:sp>
        <p:nvSpPr>
          <p:cNvPr id="20" name="TextBox 19"/>
          <p:cNvSpPr txBox="1"/>
          <p:nvPr/>
        </p:nvSpPr>
        <p:spPr>
          <a:xfrm>
            <a:off x="1181100" y="4813300"/>
            <a:ext cx="4699000" cy="698500"/>
          </a:xfrm>
          <a:prstGeom prst="rect">
            <a:avLst/>
          </a:prstGeom>
          <a:noFill/>
        </p:spPr>
        <p:txBody>
          <a:bodyPr wrap="square" lIns="0" rIns="0" tIns="0" bIns="0" anchor="t">
            <a:spAutoFit/>
          </a:bodyPr>
          <a:lstStyle/>
          <a:p>
            <a:pPr algn="l"/>
            <a:r>
              <a:rPr sz="1500" b="0" i="0">
                <a:solidFill>
                  <a:srgbClr val="9CA3AF"/>
                </a:solidFill>
                <a:latin typeface="Inter"/>
              </a:rPr>
              <a:t>Derives, from three sparse assumptions, the thermodynamic cost of any embodied representation — and a sharp critical ceiling where the partition function becomes the Riemann zeta function.</a:t>
            </a:r>
          </a:p>
        </p:txBody>
      </p:sp>
      <p:sp>
        <p:nvSpPr>
          <p:cNvPr id="21" name="Rounded Rectangle 20"/>
          <p:cNvSpPr/>
          <p:nvPr/>
        </p:nvSpPr>
        <p:spPr>
          <a:xfrm>
            <a:off x="1181100" y="5556250"/>
            <a:ext cx="571500" cy="190500"/>
          </a:xfrm>
          <a:prstGeom prst="roundRect">
            <a:avLst>
              <a:gd name="adj" fmla="val 6000"/>
            </a:avLst>
          </a:prstGeom>
          <a:solidFill>
            <a:srgbClr val="1A1E2A"/>
          </a:solidFill>
          <a:ln w="9525">
            <a:solidFill>
              <a:srgbClr val="2A2E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181100" y="5581650"/>
            <a:ext cx="571500" cy="152400"/>
          </a:xfrm>
          <a:prstGeom prst="rect">
            <a:avLst/>
          </a:prstGeom>
          <a:noFill/>
        </p:spPr>
        <p:txBody>
          <a:bodyPr wrap="square" lIns="0" rIns="0" tIns="0" bIns="0" anchor="t">
            <a:spAutoFit/>
          </a:bodyPr>
          <a:lstStyle/>
          <a:p>
            <a:pPr algn="ctr"/>
            <a:r>
              <a:rPr sz="1400" b="1" i="0">
                <a:solidFill>
                  <a:srgbClr val="7EB8DA"/>
                </a:solidFill>
                <a:latin typeface="JetBrains Mono"/>
              </a:rPr>
              <a:t>PDF →</a:t>
            </a:r>
          </a:p>
        </p:txBody>
      </p:sp>
      <p:sp>
        <p:nvSpPr>
          <p:cNvPr id="23" name="Rounded Rectangle 22"/>
          <p:cNvSpPr/>
          <p:nvPr/>
        </p:nvSpPr>
        <p:spPr>
          <a:xfrm>
            <a:off x="6235700" y="3810000"/>
            <a:ext cx="5080000" cy="2032000"/>
          </a:xfrm>
          <a:prstGeom prst="roundRect">
            <a:avLst>
              <a:gd name="adj" fmla="val 6000"/>
            </a:avLst>
          </a:prstGeom>
          <a:solidFill>
            <a:srgbClr val="141824"/>
          </a:solidFill>
          <a:ln w="15240">
            <a:solidFill>
              <a:srgbClr val="C9A9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13500" y="3937000"/>
            <a:ext cx="4699000" cy="381000"/>
          </a:xfrm>
          <a:prstGeom prst="rect">
            <a:avLst/>
          </a:prstGeom>
          <a:noFill/>
        </p:spPr>
        <p:txBody>
          <a:bodyPr wrap="square" lIns="0" rIns="0" tIns="0" bIns="0" anchor="t">
            <a:spAutoFit/>
          </a:bodyPr>
          <a:lstStyle/>
          <a:p>
            <a:pPr algn="l"/>
            <a:r>
              <a:rPr sz="2400" b="1" i="0">
                <a:solidFill>
                  <a:srgbClr val="E8E6E3"/>
                </a:solidFill>
                <a:latin typeface="Outfit"/>
              </a:rPr>
              <a:t>Equilibrium from the Inside Out</a:t>
            </a:r>
          </a:p>
        </p:txBody>
      </p:sp>
      <p:sp>
        <p:nvSpPr>
          <p:cNvPr id="25" name="TextBox 24"/>
          <p:cNvSpPr txBox="1"/>
          <p:nvPr/>
        </p:nvSpPr>
        <p:spPr>
          <a:xfrm>
            <a:off x="6413500" y="4381500"/>
            <a:ext cx="4699000" cy="177800"/>
          </a:xfrm>
          <a:prstGeom prst="rect">
            <a:avLst/>
          </a:prstGeom>
          <a:noFill/>
        </p:spPr>
        <p:txBody>
          <a:bodyPr wrap="square" lIns="0" rIns="0" tIns="0" bIns="0" anchor="t">
            <a:spAutoFit/>
          </a:bodyPr>
          <a:lstStyle/>
          <a:p>
            <a:pPr algn="l"/>
            <a:r>
              <a:rPr sz="1600" b="1" i="0">
                <a:solidFill>
                  <a:srgbClr val="C9A96E"/>
                </a:solidFill>
                <a:latin typeface="Inter"/>
              </a:rPr>
              <a:t>G. M</a:t>
            </a:r>
            <a:r>
              <a:rPr sz="1100" b="1" i="0">
                <a:solidFill>
                  <a:srgbClr val="C9A96E"/>
                </a:solidFill>
                <a:latin typeface="Inter"/>
              </a:rPr>
              <a:t>c</a:t>
            </a:r>
            <a:r>
              <a:rPr sz="1600" b="1" i="0">
                <a:solidFill>
                  <a:srgbClr val="C9A96E"/>
                </a:solidFill>
                <a:latin typeface="Inter"/>
              </a:rPr>
              <a:t>Caul</a:t>
            </a:r>
          </a:p>
        </p:txBody>
      </p:sp>
      <p:sp>
        <p:nvSpPr>
          <p:cNvPr id="26" name="TextBox 25"/>
          <p:cNvSpPr txBox="1"/>
          <p:nvPr/>
        </p:nvSpPr>
        <p:spPr>
          <a:xfrm>
            <a:off x="6413500" y="4559300"/>
            <a:ext cx="4699000" cy="177800"/>
          </a:xfrm>
          <a:prstGeom prst="rect">
            <a:avLst/>
          </a:prstGeom>
          <a:noFill/>
        </p:spPr>
        <p:txBody>
          <a:bodyPr wrap="square" lIns="0" rIns="0" tIns="0" bIns="0" anchor="t">
            <a:spAutoFit/>
          </a:bodyPr>
          <a:lstStyle/>
          <a:p>
            <a:pPr algn="l"/>
            <a:r>
              <a:rPr sz="1600" b="0" i="1">
                <a:solidFill>
                  <a:srgbClr val="6B7280"/>
                </a:solidFill>
                <a:latin typeface="Inter"/>
              </a:rPr>
              <a:t>Exact Hamiltonian of Mean Force · In-progress draft</a:t>
            </a:r>
          </a:p>
        </p:txBody>
      </p:sp>
      <p:sp>
        <p:nvSpPr>
          <p:cNvPr id="27" name="TextBox 26"/>
          <p:cNvSpPr txBox="1"/>
          <p:nvPr/>
        </p:nvSpPr>
        <p:spPr>
          <a:xfrm>
            <a:off x="6413500" y="4813300"/>
            <a:ext cx="4699000" cy="698500"/>
          </a:xfrm>
          <a:prstGeom prst="rect">
            <a:avLst/>
          </a:prstGeom>
          <a:noFill/>
        </p:spPr>
        <p:txBody>
          <a:bodyPr wrap="square" lIns="0" rIns="0" tIns="0" bIns="0" anchor="t">
            <a:spAutoFit/>
          </a:bodyPr>
          <a:lstStyle/>
          <a:p>
            <a:pPr algn="l"/>
            <a:r>
              <a:rPr sz="1500" b="0" i="0">
                <a:solidFill>
                  <a:srgbClr val="9CA3AF"/>
                </a:solidFill>
                <a:latin typeface="Inter"/>
              </a:rPr>
              <a:t>An exact algebraic closure theorem: a criterion for when a subsystem of a larger physical system admits a compact local effective description — proved for a genuinely non-commuting case.</a:t>
            </a:r>
          </a:p>
        </p:txBody>
      </p:sp>
      <p:sp>
        <p:nvSpPr>
          <p:cNvPr id="28" name="Rounded Rectangle 27"/>
          <p:cNvSpPr/>
          <p:nvPr/>
        </p:nvSpPr>
        <p:spPr>
          <a:xfrm>
            <a:off x="6413500" y="5556250"/>
            <a:ext cx="571500" cy="190500"/>
          </a:xfrm>
          <a:prstGeom prst="roundRect">
            <a:avLst>
              <a:gd name="adj" fmla="val 6000"/>
            </a:avLst>
          </a:prstGeom>
          <a:solidFill>
            <a:srgbClr val="1A1E2A"/>
          </a:solidFill>
          <a:ln w="9525">
            <a:solidFill>
              <a:srgbClr val="2A2E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13500" y="5581650"/>
            <a:ext cx="571500" cy="152400"/>
          </a:xfrm>
          <a:prstGeom prst="rect">
            <a:avLst/>
          </a:prstGeom>
          <a:noFill/>
        </p:spPr>
        <p:txBody>
          <a:bodyPr wrap="square" lIns="0" rIns="0" tIns="0" bIns="0" anchor="t">
            <a:spAutoFit/>
          </a:bodyPr>
          <a:lstStyle/>
          <a:p>
            <a:pPr algn="ctr"/>
            <a:r>
              <a:rPr sz="1400" b="1" i="0">
                <a:solidFill>
                  <a:srgbClr val="7EB8DA"/>
                </a:solidFill>
                <a:latin typeface="JetBrains Mono"/>
              </a:rPr>
              <a:t>PDF →</a:t>
            </a:r>
          </a:p>
        </p:txBody>
      </p:sp>
      <p:sp>
        <p:nvSpPr>
          <p:cNvPr id="30" name="TextBox 29"/>
          <p:cNvSpPr txBox="1"/>
          <p:nvPr/>
        </p:nvSpPr>
        <p:spPr>
          <a:xfrm>
            <a:off x="10287000" y="6438900"/>
            <a:ext cx="1270000" cy="228600"/>
          </a:xfrm>
          <a:prstGeom prst="rect">
            <a:avLst/>
          </a:prstGeom>
          <a:noFill/>
        </p:spPr>
        <p:txBody>
          <a:bodyPr wrap="square" lIns="0" rIns="0" tIns="0" bIns="0" anchor="t">
            <a:spAutoFit/>
          </a:bodyPr>
          <a:lstStyle/>
          <a:p>
            <a:pPr algn="r"/>
            <a:r>
              <a:rPr sz="1600" b="0" i="0" spc="100">
                <a:solidFill>
                  <a:srgbClr val="6B7280"/>
                </a:solidFill>
                <a:latin typeface="JetBrains Mono"/>
              </a:rPr>
              <a:t>03 / 06</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A0E1A"/>
        </a:solidFill>
        <a:effectLst/>
      </p:bgPr>
    </p:bg>
    <p:spTree>
      <p:nvGrpSpPr>
        <p:cNvPr id="1" name=""/>
        <p:cNvGrpSpPr/>
        <p:nvPr/>
      </p:nvGrpSpPr>
      <p:grpSpPr/>
      <p:sp>
        <p:nvSpPr>
          <p:cNvPr id="2" name="Rectangle 1"/>
          <p:cNvSpPr/>
          <p:nvPr/>
        </p:nvSpPr>
        <p:spPr>
          <a:xfrm>
            <a:off x="635000" y="469900"/>
            <a:ext cx="304800" cy="6350"/>
          </a:xfrm>
          <a:prstGeom prst="rect">
            <a:avLst/>
          </a:prstGeom>
          <a:solidFill>
            <a:srgbClr val="C9A9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28700" y="381000"/>
            <a:ext cx="7620000" cy="228600"/>
          </a:xfrm>
          <a:prstGeom prst="rect">
            <a:avLst/>
          </a:prstGeom>
          <a:noFill/>
        </p:spPr>
        <p:txBody>
          <a:bodyPr wrap="square" lIns="0" rIns="0" tIns="0" bIns="0" anchor="t">
            <a:spAutoFit/>
          </a:bodyPr>
          <a:lstStyle/>
          <a:p>
            <a:pPr algn="l"/>
            <a:r>
              <a:rPr sz="1800" b="1" i="0" spc="200">
                <a:solidFill>
                  <a:srgbClr val="C9A96E"/>
                </a:solidFill>
                <a:latin typeface="Inter"/>
              </a:rPr>
              <a:t>THE UNIFYING MOVE</a:t>
            </a:r>
          </a:p>
        </p:txBody>
      </p:sp>
      <p:sp>
        <p:nvSpPr>
          <p:cNvPr id="4" name="TextBox 3"/>
          <p:cNvSpPr txBox="1"/>
          <p:nvPr/>
        </p:nvSpPr>
        <p:spPr>
          <a:xfrm>
            <a:off x="635000" y="698500"/>
            <a:ext cx="10922000" cy="508000"/>
          </a:xfrm>
          <a:prstGeom prst="rect">
            <a:avLst/>
          </a:prstGeom>
          <a:noFill/>
        </p:spPr>
        <p:txBody>
          <a:bodyPr wrap="square" lIns="0" rIns="0" tIns="0" bIns="0" anchor="t">
            <a:spAutoFit/>
          </a:bodyPr>
          <a:lstStyle/>
          <a:p>
            <a:pPr algn="l"/>
            <a:r>
              <a:rPr sz="4400" b="1" i="0">
                <a:solidFill>
                  <a:srgbClr val="E8E6E3"/>
                </a:solidFill>
                <a:latin typeface="Outfit"/>
              </a:rPr>
              <a:t>One dynamics, many substrates.</a:t>
            </a:r>
          </a:p>
        </p:txBody>
      </p:sp>
      <p:sp>
        <p:nvSpPr>
          <p:cNvPr id="5" name="TextBox 4"/>
          <p:cNvSpPr txBox="1"/>
          <p:nvPr/>
        </p:nvSpPr>
        <p:spPr>
          <a:xfrm>
            <a:off x="635000" y="1270000"/>
            <a:ext cx="10922000" cy="508000"/>
          </a:xfrm>
          <a:prstGeom prst="rect">
            <a:avLst/>
          </a:prstGeom>
          <a:noFill/>
        </p:spPr>
        <p:txBody>
          <a:bodyPr wrap="square" lIns="0" rIns="0" tIns="0" bIns="0" anchor="t">
            <a:spAutoFit/>
          </a:bodyPr>
          <a:lstStyle/>
          <a:p>
            <a:pPr algn="l"/>
            <a:r>
              <a:rPr sz="1700" b="0" i="0">
                <a:solidFill>
                  <a:srgbClr val="9CA3AF"/>
                </a:solidFill>
                <a:latin typeface="Inter"/>
              </a:rPr>
              <a:t>Dynamical systems theory is the glue: biological, quantum, and neuromorphic learners are three physical realisations of the </a:t>
            </a:r>
            <a:r>
              <a:rPr sz="1700" b="1" i="0">
                <a:solidFill>
                  <a:srgbClr val="E8E6E3"/>
                </a:solidFill>
                <a:latin typeface="Inter"/>
              </a:rPr>
              <a:t>same operator algebra</a:t>
            </a:r>
            <a:r>
              <a:rPr sz="1700" b="0" i="0">
                <a:solidFill>
                  <a:srgbClr val="9CA3AF"/>
                </a:solidFill>
                <a:latin typeface="Inter"/>
              </a:rPr>
              <a:t>. Embodiment then imposes constraints — and constraints are where design principles come from.</a:t>
            </a:r>
          </a:p>
        </p:txBody>
      </p:sp>
      <p:sp>
        <p:nvSpPr>
          <p:cNvPr id="6" name="Rounded Rectangle 5"/>
          <p:cNvSpPr/>
          <p:nvPr/>
        </p:nvSpPr>
        <p:spPr>
          <a:xfrm>
            <a:off x="635000" y="2032000"/>
            <a:ext cx="3524250" cy="1143000"/>
          </a:xfrm>
          <a:prstGeom prst="roundRect">
            <a:avLst>
              <a:gd name="adj" fmla="val 6000"/>
            </a:avLst>
          </a:prstGeom>
          <a:solidFill>
            <a:srgbClr val="141824"/>
          </a:solidFill>
          <a:ln w="12700">
            <a:solidFill>
              <a:srgbClr val="2A2E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7400" y="2133600"/>
            <a:ext cx="3175000" cy="177800"/>
          </a:xfrm>
          <a:prstGeom prst="rect">
            <a:avLst/>
          </a:prstGeom>
          <a:noFill/>
        </p:spPr>
        <p:txBody>
          <a:bodyPr wrap="square" lIns="0" rIns="0" tIns="0" bIns="0" anchor="t">
            <a:spAutoFit/>
          </a:bodyPr>
          <a:lstStyle/>
          <a:p>
            <a:pPr algn="l"/>
            <a:r>
              <a:rPr sz="1400" b="0" i="0" spc="140">
                <a:solidFill>
                  <a:srgbClr val="6B7280"/>
                </a:solidFill>
                <a:latin typeface="JetBrains Mono"/>
              </a:rPr>
              <a:t>— BIOLOGY</a:t>
            </a:r>
          </a:p>
        </p:txBody>
      </p:sp>
      <p:sp>
        <p:nvSpPr>
          <p:cNvPr id="8" name="TextBox 7"/>
          <p:cNvSpPr txBox="1"/>
          <p:nvPr/>
        </p:nvSpPr>
        <p:spPr>
          <a:xfrm>
            <a:off x="787400" y="2349500"/>
            <a:ext cx="3175000" cy="228600"/>
          </a:xfrm>
          <a:prstGeom prst="rect">
            <a:avLst/>
          </a:prstGeom>
          <a:noFill/>
        </p:spPr>
        <p:txBody>
          <a:bodyPr wrap="square" lIns="0" rIns="0" tIns="0" bIns="0" anchor="t">
            <a:spAutoFit/>
          </a:bodyPr>
          <a:lstStyle/>
          <a:p>
            <a:pPr algn="l"/>
            <a:r>
              <a:rPr sz="2200" b="1" i="0">
                <a:solidFill>
                  <a:srgbClr val="E8E6E3"/>
                </a:solidFill>
                <a:latin typeface="Outfit"/>
              </a:rPr>
              <a:t>Spiking cortex</a:t>
            </a:r>
          </a:p>
        </p:txBody>
      </p:sp>
      <p:sp>
        <p:nvSpPr>
          <p:cNvPr id="9" name="Rectangle 8"/>
          <p:cNvSpPr/>
          <p:nvPr/>
        </p:nvSpPr>
        <p:spPr>
          <a:xfrm>
            <a:off x="787400" y="2794000"/>
            <a:ext cx="3175000" cy="6350"/>
          </a:xfrm>
          <a:prstGeom prst="rect">
            <a:avLst/>
          </a:prstGeom>
          <a:solidFill>
            <a:srgbClr val="2A2E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87400" y="2781300"/>
            <a:ext cx="3175000" cy="1905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87400" y="2933700"/>
            <a:ext cx="3175000" cy="177800"/>
          </a:xfrm>
          <a:prstGeom prst="rect">
            <a:avLst/>
          </a:prstGeom>
          <a:noFill/>
        </p:spPr>
        <p:txBody>
          <a:bodyPr wrap="square" lIns="0" rIns="0" tIns="0" bIns="0" anchor="t">
            <a:spAutoFit/>
          </a:bodyPr>
          <a:lstStyle/>
          <a:p>
            <a:pPr algn="l"/>
            <a:r>
              <a:rPr sz="1400" b="0" i="1">
                <a:solidFill>
                  <a:srgbClr val="9CA3AF"/>
                </a:solidFill>
                <a:latin typeface="Inter"/>
              </a:rPr>
              <a:t>irregular spikes · sparse · cheap</a:t>
            </a:r>
          </a:p>
        </p:txBody>
      </p:sp>
      <p:sp>
        <p:nvSpPr>
          <p:cNvPr id="12" name="Rounded Rectangle 11"/>
          <p:cNvSpPr/>
          <p:nvPr/>
        </p:nvSpPr>
        <p:spPr>
          <a:xfrm>
            <a:off x="4330700" y="2032000"/>
            <a:ext cx="3524250" cy="1143000"/>
          </a:xfrm>
          <a:prstGeom prst="roundRect">
            <a:avLst>
              <a:gd name="adj" fmla="val 6000"/>
            </a:avLst>
          </a:prstGeom>
          <a:solidFill>
            <a:srgbClr val="141824"/>
          </a:solidFill>
          <a:ln w="12700">
            <a:solidFill>
              <a:srgbClr val="2A2E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83100" y="2133600"/>
            <a:ext cx="3175000" cy="177800"/>
          </a:xfrm>
          <a:prstGeom prst="rect">
            <a:avLst/>
          </a:prstGeom>
          <a:noFill/>
        </p:spPr>
        <p:txBody>
          <a:bodyPr wrap="square" lIns="0" rIns="0" tIns="0" bIns="0" anchor="t">
            <a:spAutoFit/>
          </a:bodyPr>
          <a:lstStyle/>
          <a:p>
            <a:pPr algn="l"/>
            <a:r>
              <a:rPr sz="1400" b="0" i="0" spc="140">
                <a:solidFill>
                  <a:srgbClr val="6B7280"/>
                </a:solidFill>
                <a:latin typeface="JetBrains Mono"/>
              </a:rPr>
              <a:t>— QUANTUM</a:t>
            </a:r>
          </a:p>
        </p:txBody>
      </p:sp>
      <p:sp>
        <p:nvSpPr>
          <p:cNvPr id="14" name="TextBox 13"/>
          <p:cNvSpPr txBox="1"/>
          <p:nvPr/>
        </p:nvSpPr>
        <p:spPr>
          <a:xfrm>
            <a:off x="4483100" y="2349500"/>
            <a:ext cx="3175000" cy="228600"/>
          </a:xfrm>
          <a:prstGeom prst="rect">
            <a:avLst/>
          </a:prstGeom>
          <a:noFill/>
        </p:spPr>
        <p:txBody>
          <a:bodyPr wrap="square" lIns="0" rIns="0" tIns="0" bIns="0" anchor="t">
            <a:spAutoFit/>
          </a:bodyPr>
          <a:lstStyle/>
          <a:p>
            <a:pPr algn="l"/>
            <a:r>
              <a:rPr sz="2200" b="1" i="0">
                <a:solidFill>
                  <a:srgbClr val="E8E6E3"/>
                </a:solidFill>
                <a:latin typeface="Outfit"/>
              </a:rPr>
              <a:t>Open-system evolution</a:t>
            </a:r>
          </a:p>
        </p:txBody>
      </p:sp>
      <p:sp>
        <p:nvSpPr>
          <p:cNvPr id="15" name="Rectangle 14"/>
          <p:cNvSpPr/>
          <p:nvPr/>
        </p:nvSpPr>
        <p:spPr>
          <a:xfrm>
            <a:off x="4483100" y="2794000"/>
            <a:ext cx="3175000" cy="6350"/>
          </a:xfrm>
          <a:prstGeom prst="rect">
            <a:avLst/>
          </a:prstGeom>
          <a:solidFill>
            <a:srgbClr val="2A2E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483100" y="2781300"/>
            <a:ext cx="3175000" cy="19050"/>
          </a:xfrm>
          <a:prstGeom prst="rect">
            <a:avLst/>
          </a:prstGeom>
          <a:solidFill>
            <a:srgbClr val="7EB8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483100" y="2933700"/>
            <a:ext cx="3175000" cy="177800"/>
          </a:xfrm>
          <a:prstGeom prst="rect">
            <a:avLst/>
          </a:prstGeom>
          <a:noFill/>
        </p:spPr>
        <p:txBody>
          <a:bodyPr wrap="square" lIns="0" rIns="0" tIns="0" bIns="0" anchor="t">
            <a:spAutoFit/>
          </a:bodyPr>
          <a:lstStyle/>
          <a:p>
            <a:pPr algn="l"/>
            <a:r>
              <a:rPr sz="1400" b="0" i="1">
                <a:solidFill>
                  <a:srgbClr val="9CA3AF"/>
                </a:solidFill>
                <a:latin typeface="Inter"/>
              </a:rPr>
              <a:t>coherent · non-commuting · lossy</a:t>
            </a:r>
          </a:p>
        </p:txBody>
      </p:sp>
      <p:sp>
        <p:nvSpPr>
          <p:cNvPr id="18" name="Rounded Rectangle 17"/>
          <p:cNvSpPr/>
          <p:nvPr/>
        </p:nvSpPr>
        <p:spPr>
          <a:xfrm>
            <a:off x="8026400" y="2032000"/>
            <a:ext cx="3524250" cy="1143000"/>
          </a:xfrm>
          <a:prstGeom prst="roundRect">
            <a:avLst>
              <a:gd name="adj" fmla="val 6000"/>
            </a:avLst>
          </a:prstGeom>
          <a:solidFill>
            <a:srgbClr val="141824"/>
          </a:solidFill>
          <a:ln w="12700">
            <a:solidFill>
              <a:srgbClr val="2A2E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178800" y="2133600"/>
            <a:ext cx="3175000" cy="177800"/>
          </a:xfrm>
          <a:prstGeom prst="rect">
            <a:avLst/>
          </a:prstGeom>
          <a:noFill/>
        </p:spPr>
        <p:txBody>
          <a:bodyPr wrap="square" lIns="0" rIns="0" tIns="0" bIns="0" anchor="t">
            <a:spAutoFit/>
          </a:bodyPr>
          <a:lstStyle/>
          <a:p>
            <a:pPr algn="l"/>
            <a:r>
              <a:rPr sz="1400" b="0" i="0" spc="140">
                <a:solidFill>
                  <a:srgbClr val="6B7280"/>
                </a:solidFill>
                <a:latin typeface="JetBrains Mono"/>
              </a:rPr>
              <a:t>— NEUROMORPHIC</a:t>
            </a:r>
          </a:p>
        </p:txBody>
      </p:sp>
      <p:sp>
        <p:nvSpPr>
          <p:cNvPr id="20" name="TextBox 19"/>
          <p:cNvSpPr txBox="1"/>
          <p:nvPr/>
        </p:nvSpPr>
        <p:spPr>
          <a:xfrm>
            <a:off x="8178800" y="2349500"/>
            <a:ext cx="3175000" cy="228600"/>
          </a:xfrm>
          <a:prstGeom prst="rect">
            <a:avLst/>
          </a:prstGeom>
          <a:noFill/>
        </p:spPr>
        <p:txBody>
          <a:bodyPr wrap="square" lIns="0" rIns="0" tIns="0" bIns="0" anchor="t">
            <a:spAutoFit/>
          </a:bodyPr>
          <a:lstStyle/>
          <a:p>
            <a:pPr algn="l"/>
            <a:r>
              <a:rPr sz="2200" b="1" i="0">
                <a:solidFill>
                  <a:srgbClr val="E8E6E3"/>
                </a:solidFill>
                <a:latin typeface="Outfit"/>
              </a:rPr>
              <a:t>Memristive reservoir</a:t>
            </a:r>
          </a:p>
        </p:txBody>
      </p:sp>
      <p:sp>
        <p:nvSpPr>
          <p:cNvPr id="21" name="Rectangle 20"/>
          <p:cNvSpPr/>
          <p:nvPr/>
        </p:nvSpPr>
        <p:spPr>
          <a:xfrm>
            <a:off x="8178800" y="2794000"/>
            <a:ext cx="3175000" cy="6350"/>
          </a:xfrm>
          <a:prstGeom prst="rect">
            <a:avLst/>
          </a:prstGeom>
          <a:solidFill>
            <a:srgbClr val="2A2E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178800" y="2781300"/>
            <a:ext cx="3175000" cy="19050"/>
          </a:xfrm>
          <a:prstGeom prst="rect">
            <a:avLst/>
          </a:prstGeom>
          <a:solidFill>
            <a:srgbClr val="C9A9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178800" y="2933700"/>
            <a:ext cx="3175000" cy="177800"/>
          </a:xfrm>
          <a:prstGeom prst="rect">
            <a:avLst/>
          </a:prstGeom>
          <a:noFill/>
        </p:spPr>
        <p:txBody>
          <a:bodyPr wrap="square" lIns="0" rIns="0" tIns="0" bIns="0" anchor="t">
            <a:spAutoFit/>
          </a:bodyPr>
          <a:lstStyle/>
          <a:p>
            <a:pPr algn="l"/>
            <a:r>
              <a:rPr sz="1400" b="0" i="1">
                <a:solidFill>
                  <a:srgbClr val="9CA3AF"/>
                </a:solidFill>
                <a:latin typeface="Inter"/>
              </a:rPr>
              <a:t>analog state · hysteretic · embodied</a:t>
            </a:r>
          </a:p>
        </p:txBody>
      </p:sp>
      <p:sp>
        <p:nvSpPr>
          <p:cNvPr id="24" name="Rounded Rectangle 23"/>
          <p:cNvSpPr/>
          <p:nvPr/>
        </p:nvSpPr>
        <p:spPr>
          <a:xfrm>
            <a:off x="635000" y="3683000"/>
            <a:ext cx="10922000" cy="698500"/>
          </a:xfrm>
          <a:prstGeom prst="roundRect">
            <a:avLst>
              <a:gd name="adj" fmla="val 6000"/>
            </a:avLst>
          </a:prstGeom>
          <a:solidFill>
            <a:srgbClr val="1A1814"/>
          </a:solidFill>
          <a:ln w="12700">
            <a:solidFill>
              <a:srgbClr val="C9A9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25500" y="3873500"/>
            <a:ext cx="1778000" cy="228600"/>
          </a:xfrm>
          <a:prstGeom prst="rect">
            <a:avLst/>
          </a:prstGeom>
          <a:noFill/>
        </p:spPr>
        <p:txBody>
          <a:bodyPr wrap="square" lIns="0" rIns="0" tIns="0" bIns="0" anchor="t">
            <a:spAutoFit/>
          </a:bodyPr>
          <a:lstStyle/>
          <a:p>
            <a:pPr algn="l"/>
            <a:r>
              <a:rPr sz="1400" b="1" i="0" spc="160">
                <a:solidFill>
                  <a:srgbClr val="C9A96E"/>
                </a:solidFill>
                <a:latin typeface="JetBrains Mono"/>
              </a:rPr>
              <a:t>— THE GLUE</a:t>
            </a:r>
          </a:p>
        </p:txBody>
      </p:sp>
      <p:sp>
        <p:nvSpPr>
          <p:cNvPr id="26" name="TextBox 25"/>
          <p:cNvSpPr txBox="1"/>
          <p:nvPr/>
        </p:nvSpPr>
        <p:spPr>
          <a:xfrm>
            <a:off x="825500" y="4051300"/>
            <a:ext cx="1778000" cy="254000"/>
          </a:xfrm>
          <a:prstGeom prst="rect">
            <a:avLst/>
          </a:prstGeom>
          <a:noFill/>
        </p:spPr>
        <p:txBody>
          <a:bodyPr wrap="square" lIns="0" rIns="0" tIns="0" bIns="0" anchor="t">
            <a:spAutoFit/>
          </a:bodyPr>
          <a:lstStyle/>
          <a:p>
            <a:pPr algn="l"/>
            <a:r>
              <a:rPr sz="2200" b="0" i="0">
                <a:solidFill>
                  <a:srgbClr val="E8E6E3"/>
                </a:solidFill>
                <a:latin typeface="JetBrains Mono"/>
              </a:rPr>
              <a:t>∂</a:t>
            </a:r>
            <a:r>
              <a:rPr sz="1300" b="0" i="0">
                <a:solidFill>
                  <a:srgbClr val="E8E6E3"/>
                </a:solidFill>
                <a:latin typeface="JetBrains Mono"/>
              </a:rPr>
              <a:t>t</a:t>
            </a:r>
            <a:r>
              <a:rPr sz="2200" b="0" i="0">
                <a:solidFill>
                  <a:srgbClr val="E8E6E3"/>
                </a:solidFill>
                <a:latin typeface="JetBrains Mono"/>
              </a:rPr>
              <a:t> ρ = </a:t>
            </a:r>
            <a:r>
              <a:rPr sz="2200" b="1" i="0">
                <a:solidFill>
                  <a:srgbClr val="C9A96E"/>
                </a:solidFill>
                <a:latin typeface="JetBrains Mono"/>
              </a:rPr>
              <a:t>𝓛</a:t>
            </a:r>
            <a:r>
              <a:rPr sz="2200" b="0" i="0">
                <a:solidFill>
                  <a:srgbClr val="E8E6E3"/>
                </a:solidFill>
                <a:latin typeface="JetBrains Mono"/>
              </a:rPr>
              <a:t>[ρ]</a:t>
            </a:r>
          </a:p>
        </p:txBody>
      </p:sp>
      <p:sp>
        <p:nvSpPr>
          <p:cNvPr id="27" name="Rectangle 26"/>
          <p:cNvSpPr/>
          <p:nvPr/>
        </p:nvSpPr>
        <p:spPr>
          <a:xfrm>
            <a:off x="2984500" y="3841750"/>
            <a:ext cx="6350" cy="444500"/>
          </a:xfrm>
          <a:prstGeom prst="rect">
            <a:avLst/>
          </a:prstGeom>
          <a:solidFill>
            <a:srgbClr val="C9A9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175000" y="3873500"/>
            <a:ext cx="8255000" cy="444500"/>
          </a:xfrm>
          <a:prstGeom prst="rect">
            <a:avLst/>
          </a:prstGeom>
          <a:noFill/>
        </p:spPr>
        <p:txBody>
          <a:bodyPr wrap="square" lIns="0" rIns="0" tIns="0" bIns="0" anchor="t">
            <a:spAutoFit/>
          </a:bodyPr>
          <a:lstStyle/>
          <a:p>
            <a:pPr algn="l"/>
            <a:r>
              <a:rPr sz="1700" b="0" i="0">
                <a:solidFill>
                  <a:srgbClr val="9CA3AF"/>
                </a:solidFill>
                <a:latin typeface="Inter"/>
              </a:rPr>
              <a:t>A single operator-algebraic representation — the same linear evolution over a lifted observable space, whatever the hardware underneath.</a:t>
            </a:r>
          </a:p>
        </p:txBody>
      </p:sp>
      <p:sp>
        <p:nvSpPr>
          <p:cNvPr id="29" name="Rounded Rectangle 28"/>
          <p:cNvSpPr/>
          <p:nvPr/>
        </p:nvSpPr>
        <p:spPr>
          <a:xfrm>
            <a:off x="635000" y="4826000"/>
            <a:ext cx="5397500" cy="1270000"/>
          </a:xfrm>
          <a:prstGeom prst="roundRect">
            <a:avLst>
              <a:gd name="adj" fmla="val 6000"/>
            </a:avLst>
          </a:prstGeom>
          <a:solidFill>
            <a:srgbClr val="141824"/>
          </a:solidFill>
          <a:ln w="12700">
            <a:solidFill>
              <a:srgbClr val="2A2E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12800" y="4940300"/>
            <a:ext cx="5080000" cy="152400"/>
          </a:xfrm>
          <a:prstGeom prst="rect">
            <a:avLst/>
          </a:prstGeom>
          <a:noFill/>
        </p:spPr>
        <p:txBody>
          <a:bodyPr wrap="square" lIns="0" rIns="0" tIns="0" bIns="0" anchor="t">
            <a:spAutoFit/>
          </a:bodyPr>
          <a:lstStyle/>
          <a:p>
            <a:pPr algn="l"/>
            <a:r>
              <a:rPr sz="1300" b="0" i="0" spc="140">
                <a:solidFill>
                  <a:srgbClr val="6B7280"/>
                </a:solidFill>
                <a:latin typeface="JetBrains Mono"/>
              </a:rPr>
              <a:t>CONSTRAINT · 01</a:t>
            </a:r>
          </a:p>
        </p:txBody>
      </p:sp>
      <p:sp>
        <p:nvSpPr>
          <p:cNvPr id="31" name="TextBox 30"/>
          <p:cNvSpPr txBox="1"/>
          <p:nvPr/>
        </p:nvSpPr>
        <p:spPr>
          <a:xfrm>
            <a:off x="812800" y="5130800"/>
            <a:ext cx="5080000" cy="254000"/>
          </a:xfrm>
          <a:prstGeom prst="rect">
            <a:avLst/>
          </a:prstGeom>
          <a:noFill/>
        </p:spPr>
        <p:txBody>
          <a:bodyPr wrap="square" lIns="0" rIns="0" tIns="0" bIns="0" anchor="t">
            <a:spAutoFit/>
          </a:bodyPr>
          <a:lstStyle/>
          <a:p>
            <a:pPr algn="l"/>
            <a:r>
              <a:rPr sz="2200" b="1" i="0">
                <a:solidFill>
                  <a:srgbClr val="E8E6E3"/>
                </a:solidFill>
                <a:latin typeface="Outfit"/>
              </a:rPr>
              <a:t>Thermodynamic cost</a:t>
            </a:r>
          </a:p>
        </p:txBody>
      </p:sp>
      <p:sp>
        <p:nvSpPr>
          <p:cNvPr id="32" name="TextBox 31"/>
          <p:cNvSpPr txBox="1"/>
          <p:nvPr/>
        </p:nvSpPr>
        <p:spPr>
          <a:xfrm>
            <a:off x="812800" y="5422900"/>
            <a:ext cx="5080000" cy="635000"/>
          </a:xfrm>
          <a:prstGeom prst="rect">
            <a:avLst/>
          </a:prstGeom>
          <a:noFill/>
        </p:spPr>
        <p:txBody>
          <a:bodyPr wrap="square" lIns="0" rIns="0" tIns="0" bIns="0" anchor="t">
            <a:spAutoFit/>
          </a:bodyPr>
          <a:lstStyle/>
          <a:p>
            <a:pPr algn="l"/>
            <a:r>
              <a:rPr sz="1500" b="0" i="0">
                <a:solidFill>
                  <a:srgbClr val="9CA3AF"/>
                </a:solidFill>
                <a:latin typeface="Inter"/>
              </a:rPr>
              <a:t>Every embodied representation pays a price in free energy. The </a:t>
            </a:r>
            <a:r>
              <a:rPr sz="1500" b="1" i="0">
                <a:solidFill>
                  <a:srgbClr val="C9A96E"/>
                </a:solidFill>
                <a:latin typeface="Inter"/>
              </a:rPr>
              <a:t>Cost of Complexity</a:t>
            </a:r>
            <a:r>
              <a:rPr sz="1500" b="0" i="0">
                <a:solidFill>
                  <a:srgbClr val="9CA3AF"/>
                </a:solidFill>
                <a:latin typeface="Inter"/>
              </a:rPr>
              <a:t> fixes that price from three sparse assumptions — and sets a critical ceiling.</a:t>
            </a:r>
          </a:p>
        </p:txBody>
      </p:sp>
      <p:sp>
        <p:nvSpPr>
          <p:cNvPr id="33" name="Rounded Rectangle 32"/>
          <p:cNvSpPr/>
          <p:nvPr/>
        </p:nvSpPr>
        <p:spPr>
          <a:xfrm>
            <a:off x="6159500" y="4826000"/>
            <a:ext cx="5397500" cy="1270000"/>
          </a:xfrm>
          <a:prstGeom prst="roundRect">
            <a:avLst>
              <a:gd name="adj" fmla="val 6000"/>
            </a:avLst>
          </a:prstGeom>
          <a:solidFill>
            <a:srgbClr val="141824"/>
          </a:solidFill>
          <a:ln w="12700">
            <a:solidFill>
              <a:srgbClr val="2A2E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337300" y="4940300"/>
            <a:ext cx="5080000" cy="152400"/>
          </a:xfrm>
          <a:prstGeom prst="rect">
            <a:avLst/>
          </a:prstGeom>
          <a:noFill/>
        </p:spPr>
        <p:txBody>
          <a:bodyPr wrap="square" lIns="0" rIns="0" tIns="0" bIns="0" anchor="t">
            <a:spAutoFit/>
          </a:bodyPr>
          <a:lstStyle/>
          <a:p>
            <a:pPr algn="l"/>
            <a:r>
              <a:rPr sz="1300" b="0" i="0" spc="140">
                <a:solidFill>
                  <a:srgbClr val="6B7280"/>
                </a:solidFill>
                <a:latin typeface="JetBrains Mono"/>
              </a:rPr>
              <a:t>CONSTRAINT · 02</a:t>
            </a:r>
          </a:p>
        </p:txBody>
      </p:sp>
      <p:sp>
        <p:nvSpPr>
          <p:cNvPr id="35" name="TextBox 34"/>
          <p:cNvSpPr txBox="1"/>
          <p:nvPr/>
        </p:nvSpPr>
        <p:spPr>
          <a:xfrm>
            <a:off x="6337300" y="5130800"/>
            <a:ext cx="5080000" cy="254000"/>
          </a:xfrm>
          <a:prstGeom prst="rect">
            <a:avLst/>
          </a:prstGeom>
          <a:noFill/>
        </p:spPr>
        <p:txBody>
          <a:bodyPr wrap="square" lIns="0" rIns="0" tIns="0" bIns="0" anchor="t">
            <a:spAutoFit/>
          </a:bodyPr>
          <a:lstStyle/>
          <a:p>
            <a:pPr algn="l"/>
            <a:r>
              <a:rPr sz="2200" b="1" i="0">
                <a:solidFill>
                  <a:srgbClr val="E8E6E3"/>
                </a:solidFill>
                <a:latin typeface="Outfit"/>
              </a:rPr>
              <a:t>Algebraic closure</a:t>
            </a:r>
          </a:p>
        </p:txBody>
      </p:sp>
      <p:sp>
        <p:nvSpPr>
          <p:cNvPr id="36" name="TextBox 35"/>
          <p:cNvSpPr txBox="1"/>
          <p:nvPr/>
        </p:nvSpPr>
        <p:spPr>
          <a:xfrm>
            <a:off x="6337300" y="5422900"/>
            <a:ext cx="5080000" cy="635000"/>
          </a:xfrm>
          <a:prstGeom prst="rect">
            <a:avLst/>
          </a:prstGeom>
          <a:noFill/>
        </p:spPr>
        <p:txBody>
          <a:bodyPr wrap="square" lIns="0" rIns="0" tIns="0" bIns="0" anchor="t">
            <a:spAutoFit/>
          </a:bodyPr>
          <a:lstStyle/>
          <a:p>
            <a:pPr algn="l"/>
            <a:r>
              <a:rPr sz="1500" b="0" i="0">
                <a:solidFill>
                  <a:srgbClr val="9CA3AF"/>
                </a:solidFill>
                <a:latin typeface="Inter"/>
              </a:rPr>
              <a:t>Not every substrate admits a compact local description of what it does. </a:t>
            </a:r>
            <a:r>
              <a:rPr sz="1500" b="1" i="0">
                <a:solidFill>
                  <a:srgbClr val="C9A96E"/>
                </a:solidFill>
                <a:latin typeface="Inter"/>
              </a:rPr>
              <a:t>Equilibrium from the Inside Out</a:t>
            </a:r>
            <a:r>
              <a:rPr sz="1500" b="0" i="0">
                <a:solidFill>
                  <a:srgbClr val="9CA3AF"/>
                </a:solidFill>
                <a:latin typeface="Inter"/>
              </a:rPr>
              <a:t> gives the exact criterion for when it does.</a:t>
            </a:r>
          </a:p>
        </p:txBody>
      </p:sp>
      <p:sp>
        <p:nvSpPr>
          <p:cNvPr id="37" name="TextBox 36"/>
          <p:cNvSpPr txBox="1"/>
          <p:nvPr/>
        </p:nvSpPr>
        <p:spPr>
          <a:xfrm>
            <a:off x="762000" y="6438900"/>
            <a:ext cx="7620000" cy="228600"/>
          </a:xfrm>
          <a:prstGeom prst="rect">
            <a:avLst/>
          </a:prstGeom>
          <a:noFill/>
        </p:spPr>
        <p:txBody>
          <a:bodyPr wrap="square" lIns="0" rIns="0" tIns="0" bIns="0" anchor="t">
            <a:spAutoFit/>
          </a:bodyPr>
          <a:lstStyle/>
          <a:p>
            <a:pPr algn="l"/>
            <a:r>
              <a:rPr sz="2000" b="1" i="0">
                <a:solidFill>
                  <a:srgbClr val="6B7280"/>
                </a:solidFill>
                <a:latin typeface="Outfit"/>
              </a:rPr>
              <a:t>Synthetics</a:t>
            </a:r>
            <a:r>
              <a:rPr sz="2000" b="1" i="0">
                <a:solidFill>
                  <a:srgbClr val="C9A96E"/>
                </a:solidFill>
                <a:latin typeface="Outfit"/>
              </a:rPr>
              <a:t>.</a:t>
            </a:r>
            <a:r>
              <a:rPr sz="1600" b="0" i="0">
                <a:solidFill>
                  <a:srgbClr val="6B7280"/>
                </a:solidFill>
                <a:latin typeface="Inter"/>
              </a:rPr>
              <a:t>   </a:t>
            </a:r>
          </a:p>
        </p:txBody>
      </p:sp>
      <p:sp>
        <p:nvSpPr>
          <p:cNvPr id="38" name="TextBox 37"/>
          <p:cNvSpPr txBox="1"/>
          <p:nvPr/>
        </p:nvSpPr>
        <p:spPr>
          <a:xfrm>
            <a:off x="10287000" y="6438900"/>
            <a:ext cx="1270000" cy="228600"/>
          </a:xfrm>
          <a:prstGeom prst="rect">
            <a:avLst/>
          </a:prstGeom>
          <a:noFill/>
        </p:spPr>
        <p:txBody>
          <a:bodyPr wrap="square" lIns="0" rIns="0" tIns="0" bIns="0" anchor="t">
            <a:spAutoFit/>
          </a:bodyPr>
          <a:lstStyle/>
          <a:p>
            <a:pPr algn="r"/>
            <a:r>
              <a:rPr sz="1600" b="0" i="0" spc="100">
                <a:solidFill>
                  <a:srgbClr val="6B7280"/>
                </a:solidFill>
                <a:latin typeface="JetBrains Mono"/>
              </a:rPr>
              <a:t>04 / 06</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A0E1A"/>
        </a:solidFill>
        <a:effectLst/>
      </p:bgPr>
    </p:bg>
    <p:spTree>
      <p:nvGrpSpPr>
        <p:cNvPr id="1" name=""/>
        <p:cNvGrpSpPr/>
        <p:nvPr/>
      </p:nvGrpSpPr>
      <p:grpSpPr/>
      <p:sp>
        <p:nvSpPr>
          <p:cNvPr id="2" name="Rectangle 1"/>
          <p:cNvSpPr/>
          <p:nvPr/>
        </p:nvSpPr>
        <p:spPr>
          <a:xfrm>
            <a:off x="762000" y="914400"/>
            <a:ext cx="304800" cy="6350"/>
          </a:xfrm>
          <a:prstGeom prst="rect">
            <a:avLst/>
          </a:prstGeom>
          <a:solidFill>
            <a:srgbClr val="C9A9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55700" y="825500"/>
            <a:ext cx="7620000" cy="228600"/>
          </a:xfrm>
          <a:prstGeom prst="rect">
            <a:avLst/>
          </a:prstGeom>
          <a:noFill/>
        </p:spPr>
        <p:txBody>
          <a:bodyPr wrap="square" lIns="0" rIns="0" tIns="0" bIns="0" anchor="t">
            <a:spAutoFit/>
          </a:bodyPr>
          <a:lstStyle/>
          <a:p>
            <a:pPr algn="l"/>
            <a:r>
              <a:rPr sz="1800" b="1" i="0" spc="200">
                <a:solidFill>
                  <a:srgbClr val="C9A96E"/>
                </a:solidFill>
                <a:latin typeface="Inter"/>
              </a:rPr>
              <a:t>EXPLICABILITY AS DELIVERABLE</a:t>
            </a:r>
          </a:p>
        </p:txBody>
      </p:sp>
      <p:sp>
        <p:nvSpPr>
          <p:cNvPr id="4" name="TextBox 3"/>
          <p:cNvSpPr txBox="1"/>
          <p:nvPr/>
        </p:nvSpPr>
        <p:spPr>
          <a:xfrm>
            <a:off x="762000" y="1143000"/>
            <a:ext cx="10795000" cy="1397000"/>
          </a:xfrm>
          <a:prstGeom prst="rect">
            <a:avLst/>
          </a:prstGeom>
          <a:noFill/>
        </p:spPr>
        <p:txBody>
          <a:bodyPr wrap="square" lIns="0" rIns="0" tIns="0" bIns="0" anchor="t">
            <a:spAutoFit/>
          </a:bodyPr>
          <a:lstStyle/>
          <a:p>
            <a:pPr algn="l"/>
            <a:r>
              <a:rPr sz="6000" b="1" i="0">
                <a:solidFill>
                  <a:srgbClr val="E8E6E3"/>
                </a:solidFill>
                <a:latin typeface="Outfit"/>
              </a:rPr>
              <a:t>Public writing is
</a:t>
            </a:r>
            <a:r>
              <a:rPr sz="6000" b="1" i="0">
                <a:solidFill>
                  <a:srgbClr val="E8E6E3"/>
                </a:solidFill>
                <a:latin typeface="Outfit"/>
              </a:rPr>
              <a:t>part of the work.</a:t>
            </a:r>
          </a:p>
        </p:txBody>
      </p:sp>
      <p:sp>
        <p:nvSpPr>
          <p:cNvPr id="5" name="TextBox 4"/>
          <p:cNvSpPr txBox="1"/>
          <p:nvPr/>
        </p:nvSpPr>
        <p:spPr>
          <a:xfrm>
            <a:off x="762000" y="2603500"/>
            <a:ext cx="9525000" cy="508000"/>
          </a:xfrm>
          <a:prstGeom prst="rect">
            <a:avLst/>
          </a:prstGeom>
          <a:noFill/>
        </p:spPr>
        <p:txBody>
          <a:bodyPr wrap="square" lIns="0" rIns="0" tIns="0" bIns="0" anchor="t">
            <a:spAutoFit/>
          </a:bodyPr>
          <a:lstStyle/>
          <a:p>
            <a:pPr algn="l"/>
            <a:r>
              <a:rPr sz="2400" b="0" i="1">
                <a:solidFill>
                  <a:srgbClr val="9CA3AF"/>
                </a:solidFill>
                <a:latin typeface="Outfit"/>
              </a:rPr>
              <a:t>A synthesis which cannot be stated across the fields it unifies </a:t>
            </a:r>
            <a:r>
              <a:rPr sz="2400" b="1" i="0">
                <a:solidFill>
                  <a:srgbClr val="C9A96E"/>
                </a:solidFill>
                <a:latin typeface="Outfit"/>
              </a:rPr>
              <a:t>hasn't unified them</a:t>
            </a:r>
            <a:r>
              <a:rPr sz="2400" b="0" i="1">
                <a:solidFill>
                  <a:srgbClr val="9CA3AF"/>
                </a:solidFill>
                <a:latin typeface="Outfit"/>
              </a:rPr>
              <a:t>.</a:t>
            </a:r>
          </a:p>
        </p:txBody>
      </p:sp>
      <p:sp>
        <p:nvSpPr>
          <p:cNvPr id="6" name="Rounded Rectangle 5"/>
          <p:cNvSpPr/>
          <p:nvPr/>
        </p:nvSpPr>
        <p:spPr>
          <a:xfrm>
            <a:off x="762000" y="3683000"/>
            <a:ext cx="5207000" cy="2413000"/>
          </a:xfrm>
          <a:prstGeom prst="roundRect">
            <a:avLst>
              <a:gd name="adj" fmla="val 6000"/>
            </a:avLst>
          </a:prstGeom>
          <a:solidFill>
            <a:srgbClr val="141824"/>
          </a:solidFill>
          <a:ln w="12700">
            <a:solidFill>
              <a:srgbClr val="2A2E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16000" y="3873500"/>
            <a:ext cx="4826000" cy="177800"/>
          </a:xfrm>
          <a:prstGeom prst="rect">
            <a:avLst/>
          </a:prstGeom>
          <a:noFill/>
        </p:spPr>
        <p:txBody>
          <a:bodyPr wrap="square" lIns="0" rIns="0" tIns="0" bIns="0" anchor="t">
            <a:spAutoFit/>
          </a:bodyPr>
          <a:lstStyle/>
          <a:p>
            <a:pPr algn="l"/>
            <a:r>
              <a:rPr sz="1300" b="1" i="0" spc="160">
                <a:solidFill>
                  <a:srgbClr val="C9A96E"/>
                </a:solidFill>
                <a:latin typeface="JetBrains Mono"/>
              </a:rPr>
              <a:t>ONGOING ESSAY PRACTICE</a:t>
            </a:r>
          </a:p>
        </p:txBody>
      </p:sp>
      <p:sp>
        <p:nvSpPr>
          <p:cNvPr id="8" name="TextBox 7"/>
          <p:cNvSpPr txBox="1"/>
          <p:nvPr/>
        </p:nvSpPr>
        <p:spPr>
          <a:xfrm>
            <a:off x="1016000" y="4127500"/>
            <a:ext cx="4826000" cy="508000"/>
          </a:xfrm>
          <a:prstGeom prst="rect">
            <a:avLst/>
          </a:prstGeom>
          <a:noFill/>
        </p:spPr>
        <p:txBody>
          <a:bodyPr wrap="square" lIns="0" rIns="0" tIns="0" bIns="0" anchor="t">
            <a:spAutoFit/>
          </a:bodyPr>
          <a:lstStyle/>
          <a:p>
            <a:pPr algn="l"/>
            <a:r>
              <a:rPr sz="3200" b="1" i="0">
                <a:solidFill>
                  <a:srgbClr val="E8E6E3"/>
                </a:solidFill>
                <a:latin typeface="Outfit"/>
              </a:rPr>
              <a:t>Little Learning Machine</a:t>
            </a:r>
          </a:p>
        </p:txBody>
      </p:sp>
      <p:sp>
        <p:nvSpPr>
          <p:cNvPr id="9" name="TextBox 8"/>
          <p:cNvSpPr txBox="1"/>
          <p:nvPr/>
        </p:nvSpPr>
        <p:spPr>
          <a:xfrm>
            <a:off x="1016000" y="4762500"/>
            <a:ext cx="4826000" cy="889000"/>
          </a:xfrm>
          <a:prstGeom prst="rect">
            <a:avLst/>
          </a:prstGeom>
          <a:noFill/>
        </p:spPr>
        <p:txBody>
          <a:bodyPr wrap="square" lIns="0" rIns="0" tIns="0" bIns="0" anchor="t">
            <a:spAutoFit/>
          </a:bodyPr>
          <a:lstStyle/>
          <a:p>
            <a:pPr algn="l"/>
            <a:r>
              <a:rPr sz="1700" b="0" i="0">
                <a:solidFill>
                  <a:srgbClr val="9CA3AF"/>
                </a:solidFill>
                <a:latin typeface="Inter"/>
              </a:rPr>
              <a:t>Essays on physics, machine intelligence, and the occasionally unbearable nature of modern theory. Where Synthetics is drafted in public.</a:t>
            </a:r>
          </a:p>
        </p:txBody>
      </p:sp>
      <p:sp>
        <p:nvSpPr>
          <p:cNvPr id="10" name="Rectangle 9"/>
          <p:cNvSpPr/>
          <p:nvPr/>
        </p:nvSpPr>
        <p:spPr>
          <a:xfrm>
            <a:off x="1016000" y="5746750"/>
            <a:ext cx="4699000" cy="6350"/>
          </a:xfrm>
          <a:prstGeom prst="rect">
            <a:avLst/>
          </a:prstGeom>
          <a:solidFill>
            <a:srgbClr val="2A2E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16000" y="5810250"/>
            <a:ext cx="4826000" cy="203200"/>
          </a:xfrm>
          <a:prstGeom prst="rect">
            <a:avLst/>
          </a:prstGeom>
          <a:noFill/>
        </p:spPr>
        <p:txBody>
          <a:bodyPr wrap="square" lIns="0" rIns="0" tIns="0" bIns="0" anchor="t">
            <a:spAutoFit/>
          </a:bodyPr>
          <a:lstStyle/>
          <a:p>
            <a:pPr algn="l"/>
            <a:r>
              <a:rPr sz="1400" b="1" i="0">
                <a:solidFill>
                  <a:srgbClr val="C9A96E"/>
                </a:solidFill>
                <a:latin typeface="JetBrains Mono"/>
              </a:rPr>
              <a:t>Substack</a:t>
            </a:r>
            <a:r>
              <a:rPr sz="1400" b="0" i="0">
                <a:solidFill>
                  <a:srgbClr val="6B7280"/>
                </a:solidFill>
                <a:latin typeface="JetBrains Mono"/>
              </a:rPr>
              <a:t> — littlelearningmachine.substack.com</a:t>
            </a:r>
          </a:p>
        </p:txBody>
      </p:sp>
      <p:sp>
        <p:nvSpPr>
          <p:cNvPr id="12" name="Rounded Rectangle 11"/>
          <p:cNvSpPr/>
          <p:nvPr/>
        </p:nvSpPr>
        <p:spPr>
          <a:xfrm>
            <a:off x="6223000" y="3683000"/>
            <a:ext cx="5207000" cy="2413000"/>
          </a:xfrm>
          <a:prstGeom prst="roundRect">
            <a:avLst>
              <a:gd name="adj" fmla="val 6000"/>
            </a:avLst>
          </a:prstGeom>
          <a:solidFill>
            <a:srgbClr val="141824"/>
          </a:solidFill>
          <a:ln w="12700">
            <a:solidFill>
              <a:srgbClr val="2A2E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77000" y="3873500"/>
            <a:ext cx="4826000" cy="177800"/>
          </a:xfrm>
          <a:prstGeom prst="rect">
            <a:avLst/>
          </a:prstGeom>
          <a:noFill/>
        </p:spPr>
        <p:txBody>
          <a:bodyPr wrap="square" lIns="0" rIns="0" tIns="0" bIns="0" anchor="t">
            <a:spAutoFit/>
          </a:bodyPr>
          <a:lstStyle/>
          <a:p>
            <a:pPr algn="l"/>
            <a:r>
              <a:rPr sz="1300" b="1" i="0" spc="160">
                <a:solidFill>
                  <a:srgbClr val="C9A96E"/>
                </a:solidFill>
                <a:latin typeface="JetBrains Mono"/>
              </a:rPr>
              <a:t>ESSAY PRIZE</a:t>
            </a:r>
          </a:p>
        </p:txBody>
      </p:sp>
      <p:sp>
        <p:nvSpPr>
          <p:cNvPr id="14" name="TextBox 13"/>
          <p:cNvSpPr txBox="1"/>
          <p:nvPr/>
        </p:nvSpPr>
        <p:spPr>
          <a:xfrm>
            <a:off x="6477000" y="4127500"/>
            <a:ext cx="4826000" cy="508000"/>
          </a:xfrm>
          <a:prstGeom prst="rect">
            <a:avLst/>
          </a:prstGeom>
          <a:noFill/>
        </p:spPr>
        <p:txBody>
          <a:bodyPr wrap="square" lIns="0" rIns="0" tIns="0" bIns="0" anchor="t">
            <a:spAutoFit/>
          </a:bodyPr>
          <a:lstStyle/>
          <a:p>
            <a:pPr algn="l"/>
            <a:r>
              <a:rPr sz="3200" b="1" i="0">
                <a:solidFill>
                  <a:srgbClr val="E8E6E3"/>
                </a:solidFill>
                <a:latin typeface="Outfit"/>
              </a:rPr>
              <a:t>Spanspermia</a:t>
            </a:r>
          </a:p>
        </p:txBody>
      </p:sp>
      <p:sp>
        <p:nvSpPr>
          <p:cNvPr id="15" name="TextBox 14"/>
          <p:cNvSpPr txBox="1"/>
          <p:nvPr/>
        </p:nvSpPr>
        <p:spPr>
          <a:xfrm>
            <a:off x="6477000" y="4762500"/>
            <a:ext cx="4826000" cy="889000"/>
          </a:xfrm>
          <a:prstGeom prst="rect">
            <a:avLst/>
          </a:prstGeom>
          <a:noFill/>
        </p:spPr>
        <p:txBody>
          <a:bodyPr wrap="square" lIns="0" rIns="0" tIns="0" bIns="0" anchor="t">
            <a:spAutoFit/>
          </a:bodyPr>
          <a:lstStyle/>
          <a:p>
            <a:pPr algn="l"/>
            <a:r>
              <a:rPr sz="1700" b="0" i="0">
                <a:solidFill>
                  <a:srgbClr val="9CA3AF"/>
                </a:solidFill>
                <a:latin typeface="Inter"/>
              </a:rPr>
              <a:t>"Does Life Come from Outer Hilbert Space?" — an argument that informational structure, not chemistry, is the substrate question worth asking.</a:t>
            </a:r>
          </a:p>
        </p:txBody>
      </p:sp>
      <p:sp>
        <p:nvSpPr>
          <p:cNvPr id="16" name="Rectangle 15"/>
          <p:cNvSpPr/>
          <p:nvPr/>
        </p:nvSpPr>
        <p:spPr>
          <a:xfrm>
            <a:off x="6477000" y="5746750"/>
            <a:ext cx="4699000" cy="6350"/>
          </a:xfrm>
          <a:prstGeom prst="rect">
            <a:avLst/>
          </a:prstGeom>
          <a:solidFill>
            <a:srgbClr val="2A2E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77000" y="5810250"/>
            <a:ext cx="4826000" cy="203200"/>
          </a:xfrm>
          <a:prstGeom prst="rect">
            <a:avLst/>
          </a:prstGeom>
          <a:noFill/>
        </p:spPr>
        <p:txBody>
          <a:bodyPr wrap="square" lIns="0" rIns="0" tIns="0" bIns="0" anchor="t">
            <a:spAutoFit/>
          </a:bodyPr>
          <a:lstStyle/>
          <a:p>
            <a:pPr algn="l"/>
            <a:r>
              <a:rPr sz="1400" b="1" i="0">
                <a:solidFill>
                  <a:srgbClr val="C9A96E"/>
                </a:solidFill>
                <a:latin typeface="JetBrains Mono"/>
              </a:rPr>
              <a:t>2nd place · FQxI</a:t>
            </a:r>
            <a:r>
              <a:rPr sz="1400" b="0" i="0">
                <a:solidFill>
                  <a:srgbClr val="6B7280"/>
                </a:solidFill>
                <a:latin typeface="JetBrains Mono"/>
              </a:rPr>
              <a:t> Essay Competition</a:t>
            </a:r>
          </a:p>
        </p:txBody>
      </p:sp>
      <p:sp>
        <p:nvSpPr>
          <p:cNvPr id="18" name="TextBox 17"/>
          <p:cNvSpPr txBox="1"/>
          <p:nvPr/>
        </p:nvSpPr>
        <p:spPr>
          <a:xfrm>
            <a:off x="762000" y="6438900"/>
            <a:ext cx="7620000" cy="228600"/>
          </a:xfrm>
          <a:prstGeom prst="rect">
            <a:avLst/>
          </a:prstGeom>
          <a:noFill/>
        </p:spPr>
        <p:txBody>
          <a:bodyPr wrap="square" lIns="0" rIns="0" tIns="0" bIns="0" anchor="t">
            <a:spAutoFit/>
          </a:bodyPr>
          <a:lstStyle/>
          <a:p>
            <a:pPr algn="l"/>
            <a:r>
              <a:rPr sz="2000" b="1" i="0">
                <a:solidFill>
                  <a:srgbClr val="6B7280"/>
                </a:solidFill>
                <a:latin typeface="Outfit"/>
              </a:rPr>
              <a:t>Synthetics</a:t>
            </a:r>
            <a:r>
              <a:rPr sz="2000" b="1" i="0">
                <a:solidFill>
                  <a:srgbClr val="C9A96E"/>
                </a:solidFill>
                <a:latin typeface="Outfit"/>
              </a:rPr>
              <a:t>.</a:t>
            </a:r>
            <a:r>
              <a:rPr sz="1600" b="0" i="0">
                <a:solidFill>
                  <a:srgbClr val="6B7280"/>
                </a:solidFill>
                <a:latin typeface="Inter"/>
              </a:rPr>
              <a:t>   </a:t>
            </a:r>
          </a:p>
        </p:txBody>
      </p:sp>
      <p:sp>
        <p:nvSpPr>
          <p:cNvPr id="19" name="TextBox 18"/>
          <p:cNvSpPr txBox="1"/>
          <p:nvPr/>
        </p:nvSpPr>
        <p:spPr>
          <a:xfrm>
            <a:off x="10287000" y="6438900"/>
            <a:ext cx="1270000" cy="228600"/>
          </a:xfrm>
          <a:prstGeom prst="rect">
            <a:avLst/>
          </a:prstGeom>
          <a:noFill/>
        </p:spPr>
        <p:txBody>
          <a:bodyPr wrap="square" lIns="0" rIns="0" tIns="0" bIns="0" anchor="t">
            <a:spAutoFit/>
          </a:bodyPr>
          <a:lstStyle/>
          <a:p>
            <a:pPr algn="r"/>
            <a:r>
              <a:rPr sz="1600" b="0" i="0" spc="100">
                <a:solidFill>
                  <a:srgbClr val="6B7280"/>
                </a:solidFill>
                <a:latin typeface="JetBrains Mono"/>
              </a:rPr>
              <a:t>05 / 06</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A0E1A"/>
        </a:solidFill>
        <a:effectLst/>
      </p:bgPr>
    </p:bg>
    <p:spTree>
      <p:nvGrpSpPr>
        <p:cNvPr id="1" name=""/>
        <p:cNvGrpSpPr/>
        <p:nvPr/>
      </p:nvGrpSpPr>
      <p:grpSpPr/>
      <p:sp>
        <p:nvSpPr>
          <p:cNvPr id="2" name="Rectangle 1"/>
          <p:cNvSpPr/>
          <p:nvPr/>
        </p:nvSpPr>
        <p:spPr>
          <a:xfrm>
            <a:off x="635000" y="723900"/>
            <a:ext cx="304800" cy="6350"/>
          </a:xfrm>
          <a:prstGeom prst="rect">
            <a:avLst/>
          </a:prstGeom>
          <a:solidFill>
            <a:srgbClr val="C9A9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28700" y="635000"/>
            <a:ext cx="7620000" cy="228600"/>
          </a:xfrm>
          <a:prstGeom prst="rect">
            <a:avLst/>
          </a:prstGeom>
          <a:noFill/>
        </p:spPr>
        <p:txBody>
          <a:bodyPr wrap="square" lIns="0" rIns="0" tIns="0" bIns="0" anchor="t">
            <a:spAutoFit/>
          </a:bodyPr>
          <a:lstStyle/>
          <a:p>
            <a:pPr algn="l"/>
            <a:r>
              <a:rPr sz="1800" b="1" i="0" spc="200">
                <a:solidFill>
                  <a:srgbClr val="C9A96E"/>
                </a:solidFill>
                <a:latin typeface="Inter"/>
              </a:rPr>
              <a:t>ABOUT</a:t>
            </a:r>
          </a:p>
        </p:txBody>
      </p:sp>
      <p:sp>
        <p:nvSpPr>
          <p:cNvPr id="4" name="Rounded Rectangle 3"/>
          <p:cNvSpPr/>
          <p:nvPr/>
        </p:nvSpPr>
        <p:spPr>
          <a:xfrm>
            <a:off x="635000" y="1143000"/>
            <a:ext cx="3302000" cy="3429000"/>
          </a:xfrm>
          <a:prstGeom prst="roundRect">
            <a:avLst>
              <a:gd name="adj" fmla="val 6000"/>
            </a:avLst>
          </a:prstGeom>
          <a:solidFill>
            <a:srgbClr val="141824"/>
          </a:solidFill>
          <a:ln w="12700">
            <a:solidFill>
              <a:srgbClr val="2A2E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me_sketch_cleaned.png"/>
          <p:cNvPicPr>
            <a:picLocks noChangeAspect="1"/>
          </p:cNvPicPr>
          <p:nvPr/>
        </p:nvPicPr>
        <p:blipFill>
          <a:blip r:embed="rId2"/>
          <a:stretch>
            <a:fillRect/>
          </a:stretch>
        </p:blipFill>
        <p:spPr>
          <a:xfrm>
            <a:off x="762000" y="1270000"/>
            <a:ext cx="3048000" cy="3175000"/>
          </a:xfrm>
          <a:prstGeom prst="rect">
            <a:avLst/>
          </a:prstGeom>
        </p:spPr>
      </p:pic>
      <p:sp>
        <p:nvSpPr>
          <p:cNvPr id="6" name="TextBox 5"/>
          <p:cNvSpPr txBox="1"/>
          <p:nvPr/>
        </p:nvSpPr>
        <p:spPr>
          <a:xfrm>
            <a:off x="825500" y="4540250"/>
            <a:ext cx="1905000" cy="152400"/>
          </a:xfrm>
          <a:prstGeom prst="rect">
            <a:avLst/>
          </a:prstGeom>
          <a:noFill/>
        </p:spPr>
        <p:txBody>
          <a:bodyPr wrap="square" lIns="0" rIns="0" tIns="0" bIns="0" anchor="t">
            <a:spAutoFit/>
          </a:bodyPr>
          <a:lstStyle/>
          <a:p>
            <a:pPr algn="l"/>
            <a:r>
              <a:rPr sz="1200" b="0" i="0" spc="160">
                <a:solidFill>
                  <a:srgbClr val="6B7280"/>
                </a:solidFill>
                <a:latin typeface="JetBrains Mono"/>
              </a:rPr>
              <a:t>— THE APPLICANT</a:t>
            </a:r>
          </a:p>
        </p:txBody>
      </p:sp>
      <p:sp>
        <p:nvSpPr>
          <p:cNvPr id="7" name="TextBox 6"/>
          <p:cNvSpPr txBox="1"/>
          <p:nvPr/>
        </p:nvSpPr>
        <p:spPr>
          <a:xfrm>
            <a:off x="4445000" y="1270000"/>
            <a:ext cx="7620000" cy="698500"/>
          </a:xfrm>
          <a:prstGeom prst="rect">
            <a:avLst/>
          </a:prstGeom>
          <a:noFill/>
        </p:spPr>
        <p:txBody>
          <a:bodyPr wrap="square" lIns="0" rIns="0" tIns="0" bIns="0" anchor="t">
            <a:spAutoFit/>
          </a:bodyPr>
          <a:lstStyle/>
          <a:p>
            <a:pPr algn="l"/>
            <a:r>
              <a:rPr sz="7000" b="1" i="0">
                <a:solidFill>
                  <a:srgbClr val="E8E6E3"/>
                </a:solidFill>
                <a:latin typeface="Outfit"/>
              </a:rPr>
              <a:t>Gerard </a:t>
            </a:r>
            <a:r>
              <a:rPr sz="7000" b="1" i="0">
                <a:solidFill>
                  <a:srgbClr val="C9A96E"/>
                </a:solidFill>
                <a:latin typeface="Outfit"/>
              </a:rPr>
              <a:t>M</a:t>
            </a:r>
            <a:r>
              <a:rPr sz="3600" b="1" i="0">
                <a:solidFill>
                  <a:srgbClr val="C9A96E"/>
                </a:solidFill>
                <a:latin typeface="Outfit"/>
              </a:rPr>
              <a:t>c</a:t>
            </a:r>
            <a:r>
              <a:rPr sz="7000" b="1" i="0">
                <a:solidFill>
                  <a:srgbClr val="C9A96E"/>
                </a:solidFill>
                <a:latin typeface="Outfit"/>
              </a:rPr>
              <a:t>Caul.</a:t>
            </a:r>
          </a:p>
        </p:txBody>
      </p:sp>
      <p:sp>
        <p:nvSpPr>
          <p:cNvPr id="8" name="TextBox 7"/>
          <p:cNvSpPr txBox="1"/>
          <p:nvPr/>
        </p:nvSpPr>
        <p:spPr>
          <a:xfrm>
            <a:off x="4445000" y="2032000"/>
            <a:ext cx="7620000" cy="254000"/>
          </a:xfrm>
          <a:prstGeom prst="rect">
            <a:avLst/>
          </a:prstGeom>
          <a:noFill/>
        </p:spPr>
        <p:txBody>
          <a:bodyPr wrap="square" lIns="0" rIns="0" tIns="0" bIns="0" anchor="t">
            <a:spAutoFit/>
          </a:bodyPr>
          <a:lstStyle/>
          <a:p>
            <a:pPr algn="l"/>
            <a:r>
              <a:rPr sz="2200" b="0" i="1">
                <a:solidFill>
                  <a:srgbClr val="9CA3AF"/>
                </a:solidFill>
                <a:latin typeface="Outfit"/>
              </a:rPr>
              <a:t>Theoretical physicist · Loose canon</a:t>
            </a:r>
          </a:p>
        </p:txBody>
      </p:sp>
      <p:sp>
        <p:nvSpPr>
          <p:cNvPr id="9" name="TextBox 8"/>
          <p:cNvSpPr txBox="1"/>
          <p:nvPr/>
        </p:nvSpPr>
        <p:spPr>
          <a:xfrm>
            <a:off x="4445000" y="2413000"/>
            <a:ext cx="7620000" cy="1397000"/>
          </a:xfrm>
          <a:prstGeom prst="rect">
            <a:avLst/>
          </a:prstGeom>
          <a:noFill/>
        </p:spPr>
        <p:txBody>
          <a:bodyPr wrap="square" lIns="0" rIns="0" tIns="0" bIns="0" anchor="t">
            <a:spAutoFit/>
          </a:bodyPr>
          <a:lstStyle/>
          <a:p>
            <a:pPr algn="l"/>
            <a:r>
              <a:rPr sz="1800" b="0" i="0">
                <a:solidFill>
                  <a:srgbClr val="E8E6E3"/>
                </a:solidFill>
                <a:latin typeface="Inter"/>
              </a:rPr>
              <a:t>I work at the intersection of </a:t>
            </a:r>
            <a:r>
              <a:rPr sz="1800" b="1" i="0">
                <a:solidFill>
                  <a:srgbClr val="C9A96E"/>
                </a:solidFill>
                <a:latin typeface="Inter"/>
              </a:rPr>
              <a:t>quantum theory, thermodynamics, and machine intelligence</a:t>
            </a:r>
            <a:r>
              <a:rPr sz="1800" b="0" i="0">
                <a:solidFill>
                  <a:srgbClr val="E8E6E3"/>
                </a:solidFill>
                <a:latin typeface="Inter"/>
              </a:rPr>
              <a:t> — the three fields Synthetics proposes to unify. Twenty-five-plus papers across quantum control, open quantum systems, reservoir computing, superoscillations, and Koopman methods. I also write essays that are too long, and compose music that makes people wince.</a:t>
            </a:r>
          </a:p>
        </p:txBody>
      </p:sp>
      <p:sp>
        <p:nvSpPr>
          <p:cNvPr id="10" name="TextBox 9"/>
          <p:cNvSpPr txBox="1"/>
          <p:nvPr/>
        </p:nvSpPr>
        <p:spPr>
          <a:xfrm>
            <a:off x="4445000" y="3937000"/>
            <a:ext cx="7620000" cy="203200"/>
          </a:xfrm>
          <a:prstGeom prst="rect">
            <a:avLst/>
          </a:prstGeom>
          <a:noFill/>
        </p:spPr>
        <p:txBody>
          <a:bodyPr wrap="square" lIns="0" rIns="0" tIns="0" bIns="0" anchor="t">
            <a:spAutoFit/>
          </a:bodyPr>
          <a:lstStyle/>
          <a:p>
            <a:pPr algn="l"/>
            <a:r>
              <a:rPr sz="1400" b="1" i="0">
                <a:solidFill>
                  <a:srgbClr val="E8E6E3"/>
                </a:solidFill>
                <a:latin typeface="JetBrains Mono"/>
              </a:rPr>
              <a:t>PhD</a:t>
            </a:r>
            <a:r>
              <a:rPr sz="1400" b="0" i="0">
                <a:solidFill>
                  <a:srgbClr val="6B7280"/>
                </a:solidFill>
                <a:latin typeface="JetBrains Mono"/>
              </a:rPr>
              <a:t> · King's College London, 2019      </a:t>
            </a:r>
            <a:r>
              <a:rPr sz="1400" b="1" i="0">
                <a:solidFill>
                  <a:srgbClr val="E8E6E3"/>
                </a:solidFill>
                <a:latin typeface="JetBrains Mono"/>
              </a:rPr>
              <a:t>FQxI</a:t>
            </a:r>
            <a:r>
              <a:rPr sz="1400" b="0" i="0">
                <a:solidFill>
                  <a:srgbClr val="6B7280"/>
                </a:solidFill>
                <a:latin typeface="JetBrains Mono"/>
              </a:rPr>
              <a:t> · 2nd place, 2024      </a:t>
            </a:r>
            <a:r>
              <a:rPr sz="1400" b="1" i="0">
                <a:solidFill>
                  <a:srgbClr val="E8E6E3"/>
                </a:solidFill>
                <a:latin typeface="JetBrains Mono"/>
              </a:rPr>
              <a:t>Postdoctoral</a:t>
            </a:r>
            <a:r>
              <a:rPr sz="1400" b="0" i="0">
                <a:solidFill>
                  <a:srgbClr val="6B7280"/>
                </a:solidFill>
                <a:latin typeface="JetBrains Mono"/>
              </a:rPr>
              <a:t> · Tulane</a:t>
            </a:r>
          </a:p>
        </p:txBody>
      </p:sp>
      <p:sp>
        <p:nvSpPr>
          <p:cNvPr id="11" name="Rectangle 10"/>
          <p:cNvSpPr/>
          <p:nvPr/>
        </p:nvSpPr>
        <p:spPr>
          <a:xfrm>
            <a:off x="4445000" y="5080000"/>
            <a:ext cx="6985000" cy="6350"/>
          </a:xfrm>
          <a:prstGeom prst="rect">
            <a:avLst/>
          </a:prstGeom>
          <a:solidFill>
            <a:srgbClr val="2A2E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445000" y="5207000"/>
            <a:ext cx="2286000" cy="152400"/>
          </a:xfrm>
          <a:prstGeom prst="rect">
            <a:avLst/>
          </a:prstGeom>
          <a:noFill/>
        </p:spPr>
        <p:txBody>
          <a:bodyPr wrap="square" lIns="0" rIns="0" tIns="0" bIns="0" anchor="t">
            <a:spAutoFit/>
          </a:bodyPr>
          <a:lstStyle/>
          <a:p>
            <a:pPr algn="l"/>
            <a:r>
              <a:rPr sz="1200" b="0" i="0" spc="160">
                <a:solidFill>
                  <a:srgbClr val="6B7280"/>
                </a:solidFill>
                <a:latin typeface="JetBrains Mono"/>
              </a:rPr>
              <a:t>01 · PHYSICS</a:t>
            </a:r>
          </a:p>
        </p:txBody>
      </p:sp>
      <p:sp>
        <p:nvSpPr>
          <p:cNvPr id="13" name="TextBox 12"/>
          <p:cNvSpPr txBox="1"/>
          <p:nvPr/>
        </p:nvSpPr>
        <p:spPr>
          <a:xfrm>
            <a:off x="4445000" y="5397500"/>
            <a:ext cx="2286000" cy="228600"/>
          </a:xfrm>
          <a:prstGeom prst="rect">
            <a:avLst/>
          </a:prstGeom>
          <a:noFill/>
        </p:spPr>
        <p:txBody>
          <a:bodyPr wrap="square" lIns="0" rIns="0" tIns="0" bIns="0" anchor="t">
            <a:spAutoFit/>
          </a:bodyPr>
          <a:lstStyle/>
          <a:p>
            <a:pPr algn="l"/>
            <a:r>
              <a:rPr sz="2000" b="1" i="0">
                <a:solidFill>
                  <a:srgbClr val="E8E6E3"/>
                </a:solidFill>
                <a:latin typeface="Outfit"/>
              </a:rPr>
              <a:t>gmccaul.co.uk</a:t>
            </a:r>
            <a:r>
              <a:rPr sz="2000" b="1" i="0">
                <a:solidFill>
                  <a:srgbClr val="C9A96E"/>
                </a:solidFill>
                <a:latin typeface="Outfit"/>
              </a:rPr>
              <a:t>/physics.html</a:t>
            </a:r>
          </a:p>
        </p:txBody>
      </p:sp>
      <p:sp>
        <p:nvSpPr>
          <p:cNvPr id="14" name="TextBox 13"/>
          <p:cNvSpPr txBox="1"/>
          <p:nvPr/>
        </p:nvSpPr>
        <p:spPr>
          <a:xfrm>
            <a:off x="6858000" y="5207000"/>
            <a:ext cx="2286000" cy="152400"/>
          </a:xfrm>
          <a:prstGeom prst="rect">
            <a:avLst/>
          </a:prstGeom>
          <a:noFill/>
        </p:spPr>
        <p:txBody>
          <a:bodyPr wrap="square" lIns="0" rIns="0" tIns="0" bIns="0" anchor="t">
            <a:spAutoFit/>
          </a:bodyPr>
          <a:lstStyle/>
          <a:p>
            <a:pPr algn="l"/>
            <a:r>
              <a:rPr sz="1200" b="0" i="0" spc="160">
                <a:solidFill>
                  <a:srgbClr val="6B7280"/>
                </a:solidFill>
                <a:latin typeface="JetBrains Mono"/>
              </a:rPr>
              <a:t>02 · ESSAYS</a:t>
            </a:r>
          </a:p>
        </p:txBody>
      </p:sp>
      <p:sp>
        <p:nvSpPr>
          <p:cNvPr id="15" name="TextBox 14"/>
          <p:cNvSpPr txBox="1"/>
          <p:nvPr/>
        </p:nvSpPr>
        <p:spPr>
          <a:xfrm>
            <a:off x="6858000" y="5397500"/>
            <a:ext cx="2286000" cy="228600"/>
          </a:xfrm>
          <a:prstGeom prst="rect">
            <a:avLst/>
          </a:prstGeom>
          <a:noFill/>
        </p:spPr>
        <p:txBody>
          <a:bodyPr wrap="square" lIns="0" rIns="0" tIns="0" bIns="0" anchor="t">
            <a:spAutoFit/>
          </a:bodyPr>
          <a:lstStyle/>
          <a:p>
            <a:pPr algn="l"/>
            <a:r>
              <a:rPr sz="2000" b="1" i="0">
                <a:solidFill>
                  <a:srgbClr val="E8E6E3"/>
                </a:solidFill>
                <a:latin typeface="Outfit"/>
              </a:rPr>
              <a:t>littlelearningmachine</a:t>
            </a:r>
            <a:r>
              <a:rPr sz="2000" b="1" i="0">
                <a:solidFill>
                  <a:srgbClr val="C9A96E"/>
                </a:solidFill>
                <a:latin typeface="Outfit"/>
              </a:rPr>
              <a:t>.substack.com</a:t>
            </a:r>
          </a:p>
        </p:txBody>
      </p:sp>
      <p:sp>
        <p:nvSpPr>
          <p:cNvPr id="16" name="TextBox 15"/>
          <p:cNvSpPr txBox="1"/>
          <p:nvPr/>
        </p:nvSpPr>
        <p:spPr>
          <a:xfrm>
            <a:off x="9271000" y="5207000"/>
            <a:ext cx="2286000" cy="152400"/>
          </a:xfrm>
          <a:prstGeom prst="rect">
            <a:avLst/>
          </a:prstGeom>
          <a:noFill/>
        </p:spPr>
        <p:txBody>
          <a:bodyPr wrap="square" lIns="0" rIns="0" tIns="0" bIns="0" anchor="t">
            <a:spAutoFit/>
          </a:bodyPr>
          <a:lstStyle/>
          <a:p>
            <a:pPr algn="l"/>
            <a:r>
              <a:rPr sz="1200" b="0" i="0" spc="160">
                <a:solidFill>
                  <a:srgbClr val="6B7280"/>
                </a:solidFill>
                <a:latin typeface="JetBrains Mono"/>
              </a:rPr>
              <a:t>03 · WRITING</a:t>
            </a:r>
          </a:p>
        </p:txBody>
      </p:sp>
      <p:sp>
        <p:nvSpPr>
          <p:cNvPr id="17" name="TextBox 16"/>
          <p:cNvSpPr txBox="1"/>
          <p:nvPr/>
        </p:nvSpPr>
        <p:spPr>
          <a:xfrm>
            <a:off x="9271000" y="5397500"/>
            <a:ext cx="2286000" cy="228600"/>
          </a:xfrm>
          <a:prstGeom prst="rect">
            <a:avLst/>
          </a:prstGeom>
          <a:noFill/>
        </p:spPr>
        <p:txBody>
          <a:bodyPr wrap="square" lIns="0" rIns="0" tIns="0" bIns="0" anchor="t">
            <a:spAutoFit/>
          </a:bodyPr>
          <a:lstStyle/>
          <a:p>
            <a:pPr algn="l"/>
            <a:r>
              <a:rPr sz="2000" b="1" i="0">
                <a:solidFill>
                  <a:srgbClr val="E8E6E3"/>
                </a:solidFill>
                <a:latin typeface="Outfit"/>
              </a:rPr>
              <a:t>gmccaul.co.uk</a:t>
            </a:r>
            <a:r>
              <a:rPr sz="2000" b="1" i="0">
                <a:solidFill>
                  <a:srgbClr val="C9A96E"/>
                </a:solidFill>
                <a:latin typeface="Outfit"/>
              </a:rPr>
              <a:t>/writing.html</a:t>
            </a:r>
          </a:p>
        </p:txBody>
      </p:sp>
      <p:sp>
        <p:nvSpPr>
          <p:cNvPr id="18" name="Rectangle 17"/>
          <p:cNvSpPr/>
          <p:nvPr/>
        </p:nvSpPr>
        <p:spPr>
          <a:xfrm>
            <a:off x="6731000" y="5207000"/>
            <a:ext cx="6350" cy="508000"/>
          </a:xfrm>
          <a:prstGeom prst="rect">
            <a:avLst/>
          </a:prstGeom>
          <a:solidFill>
            <a:srgbClr val="2A2E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9144000" y="5207000"/>
            <a:ext cx="6350" cy="508000"/>
          </a:xfrm>
          <a:prstGeom prst="rect">
            <a:avLst/>
          </a:prstGeom>
          <a:solidFill>
            <a:srgbClr val="2A2E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62000" y="6438900"/>
            <a:ext cx="7620000" cy="228600"/>
          </a:xfrm>
          <a:prstGeom prst="rect">
            <a:avLst/>
          </a:prstGeom>
          <a:noFill/>
        </p:spPr>
        <p:txBody>
          <a:bodyPr wrap="square" lIns="0" rIns="0" tIns="0" bIns="0" anchor="t">
            <a:spAutoFit/>
          </a:bodyPr>
          <a:lstStyle/>
          <a:p>
            <a:pPr algn="l"/>
            <a:r>
              <a:rPr sz="2000" b="1" i="0">
                <a:solidFill>
                  <a:srgbClr val="6B7280"/>
                </a:solidFill>
                <a:latin typeface="Outfit"/>
              </a:rPr>
              <a:t>Gerard McCaul</a:t>
            </a:r>
            <a:r>
              <a:rPr sz="2000" b="1" i="0">
                <a:solidFill>
                  <a:srgbClr val="C9A96E"/>
                </a:solidFill>
                <a:latin typeface="Outfit"/>
              </a:rPr>
              <a:t>.</a:t>
            </a:r>
            <a:r>
              <a:rPr sz="1600" b="0" i="0">
                <a:solidFill>
                  <a:srgbClr val="6B7280"/>
                </a:solidFill>
                <a:latin typeface="Inter"/>
              </a:rPr>
              <a:t>   Astera — Residency application · 2026</a:t>
            </a:r>
          </a:p>
        </p:txBody>
      </p:sp>
      <p:sp>
        <p:nvSpPr>
          <p:cNvPr id="21" name="TextBox 20"/>
          <p:cNvSpPr txBox="1"/>
          <p:nvPr/>
        </p:nvSpPr>
        <p:spPr>
          <a:xfrm>
            <a:off x="10287000" y="6438900"/>
            <a:ext cx="1270000" cy="228600"/>
          </a:xfrm>
          <a:prstGeom prst="rect">
            <a:avLst/>
          </a:prstGeom>
          <a:noFill/>
        </p:spPr>
        <p:txBody>
          <a:bodyPr wrap="square" lIns="0" rIns="0" tIns="0" bIns="0" anchor="t">
            <a:spAutoFit/>
          </a:bodyPr>
          <a:lstStyle/>
          <a:p>
            <a:pPr algn="r"/>
            <a:r>
              <a:rPr sz="1600" b="0" i="0" spc="100">
                <a:solidFill>
                  <a:srgbClr val="6B7280"/>
                </a:solidFill>
                <a:latin typeface="JetBrains Mono"/>
              </a:rPr>
              <a:t>06 / 06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